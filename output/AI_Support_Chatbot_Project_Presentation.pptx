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9471b07914ca1" /><Relationship Type="http://schemas.openxmlformats.org/officeDocument/2006/relationships/extended-properties" Target="/docProps/app.xml" Id="R0d26009881b9440f" /><Relationship Type="http://schemas.openxmlformats.org/officeDocument/2006/relationships/officeDocument" Target="/ppt/presentation.xml" Id="R438d014ede59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be39aac9a4352"/>
  </p:sldMasterIdLst>
  <p:notesMasterIdLst>
    <p:notesMasterId xmlns:r="http://schemas.openxmlformats.org/officeDocument/2006/relationships" r:id="R9a10f84ae8194ab8"/>
  </p:notesMasterIdLst>
  <p:sldIdLst>
    <p:sldId xmlns:r="http://schemas.openxmlformats.org/officeDocument/2006/relationships" id="256" r:id="Rc5e6114d067f4d70"/>
    <p:sldId xmlns:r="http://schemas.openxmlformats.org/officeDocument/2006/relationships" id="257" r:id="R41b0a76c6aad4e76"/>
    <p:sldId xmlns:r="http://schemas.openxmlformats.org/officeDocument/2006/relationships" id="258" r:id="R62cae94234fe431d"/>
    <p:sldId xmlns:r="http://schemas.openxmlformats.org/officeDocument/2006/relationships" id="259" r:id="R5c4c2e7052474e1b"/>
    <p:sldId xmlns:r="http://schemas.openxmlformats.org/officeDocument/2006/relationships" id="260" r:id="R037333b51de249ff"/>
    <p:sldId xmlns:r="http://schemas.openxmlformats.org/officeDocument/2006/relationships" id="261" r:id="Rba9f10b40da04cef"/>
    <p:sldId xmlns:r="http://schemas.openxmlformats.org/officeDocument/2006/relationships" id="262" r:id="R35957722e637495c"/>
    <p:sldId xmlns:r="http://schemas.openxmlformats.org/officeDocument/2006/relationships" id="263" r:id="R99a77d6c726c458e"/>
    <p:sldId xmlns:r="http://schemas.openxmlformats.org/officeDocument/2006/relationships" id="264" r:id="R7f7905147f1d41e0"/>
    <p:sldId xmlns:r="http://schemas.openxmlformats.org/officeDocument/2006/relationships" id="265" r:id="R5a74008b59ff4e57"/>
    <p:sldId xmlns:r="http://schemas.openxmlformats.org/officeDocument/2006/relationships" id="266" r:id="Rd8da9234e82d45fd"/>
    <p:sldId xmlns:r="http://schemas.openxmlformats.org/officeDocument/2006/relationships" id="267" r:id="Rdf5a0ef35ef04597"/>
    <p:sldId xmlns:r="http://schemas.openxmlformats.org/officeDocument/2006/relationships" id="268" r:id="R02034e1cc1e7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3a228b6674c82" /><Relationship Type="http://schemas.openxmlformats.org/officeDocument/2006/relationships/slideMaster" Target="/ppt/slideMasters/slideMaster1.xml" Id="R190be39aac9a4352" /><Relationship Type="http://schemas.openxmlformats.org/officeDocument/2006/relationships/notesMaster" Target="/ppt/notesMasters/notesMaster1.xml" Id="R9a10f84ae8194ab8" /><Relationship Type="http://schemas.openxmlformats.org/officeDocument/2006/relationships/presProps" Target="/ppt/presProps.xml" Id="R877084c27aab4a28" /><Relationship Type="http://schemas.openxmlformats.org/officeDocument/2006/relationships/tableStyles" Target="/ppt/tableStyles.xml" Id="Rf684de53305742f2" /><Relationship Type="http://schemas.openxmlformats.org/officeDocument/2006/relationships/slide" Target="/ppt/slides/slide1.xml" Id="Rc5e6114d067f4d70" /><Relationship Type="http://schemas.openxmlformats.org/officeDocument/2006/relationships/slide" Target="/ppt/slides/slide2.xml" Id="R41b0a76c6aad4e76" /><Relationship Type="http://schemas.openxmlformats.org/officeDocument/2006/relationships/slide" Target="/ppt/slides/slide3.xml" Id="R62cae94234fe431d" /><Relationship Type="http://schemas.openxmlformats.org/officeDocument/2006/relationships/slide" Target="/ppt/slides/slide4.xml" Id="R5c4c2e7052474e1b" /><Relationship Type="http://schemas.openxmlformats.org/officeDocument/2006/relationships/slide" Target="/ppt/slides/slide5.xml" Id="R037333b51de249ff" /><Relationship Type="http://schemas.openxmlformats.org/officeDocument/2006/relationships/slide" Target="/ppt/slides/slide6.xml" Id="Rba9f10b40da04cef" /><Relationship Type="http://schemas.openxmlformats.org/officeDocument/2006/relationships/slide" Target="/ppt/slides/slide7.xml" Id="R35957722e637495c" /><Relationship Type="http://schemas.openxmlformats.org/officeDocument/2006/relationships/slide" Target="/ppt/slides/slide8.xml" Id="R99a77d6c726c458e" /><Relationship Type="http://schemas.openxmlformats.org/officeDocument/2006/relationships/slide" Target="/ppt/slides/slide9.xml" Id="R7f7905147f1d41e0" /><Relationship Type="http://schemas.openxmlformats.org/officeDocument/2006/relationships/slide" Target="/ppt/slides/slide10.xml" Id="R5a74008b59ff4e57" /><Relationship Type="http://schemas.openxmlformats.org/officeDocument/2006/relationships/slide" Target="/ppt/slides/slide11.xml" Id="Rd8da9234e82d45fd" /><Relationship Type="http://schemas.openxmlformats.org/officeDocument/2006/relationships/slide" Target="/ppt/slides/slide12.xml" Id="Rdf5a0ef35ef04597" /><Relationship Type="http://schemas.openxmlformats.org/officeDocument/2006/relationships/slide" Target="/ppt/slides/slide13.xml" Id="R02034e1cc1e7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6b4745f454f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5e045aae5a4eb4" /><Relationship Type="http://schemas.openxmlformats.org/officeDocument/2006/relationships/notesMaster" Target="/ppt/notesMasters/notesMaster1.xml" Id="Rdd4467ebdf0c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3e99287124f54" /><Relationship Type="http://schemas.openxmlformats.org/officeDocument/2006/relationships/notesMaster" Target="/ppt/notesMasters/notesMaster1.xml" Id="R7e52f93920ff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ad95117d634c43" /><Relationship Type="http://schemas.openxmlformats.org/officeDocument/2006/relationships/notesMaster" Target="/ppt/notesMasters/notesMaster1.xml" Id="Ra929d32d74c4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b6decdcf264ffc" /><Relationship Type="http://schemas.openxmlformats.org/officeDocument/2006/relationships/notesMaster" Target="/ppt/notesMasters/notesMaster1.xml" Id="R11eef8c6e5ef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239fd3c9ad4ba2" /><Relationship Type="http://schemas.openxmlformats.org/officeDocument/2006/relationships/notesMaster" Target="/ppt/notesMasters/notesMaster1.xml" Id="R33066845d2af4d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817639e934dc1" /><Relationship Type="http://schemas.openxmlformats.org/officeDocument/2006/relationships/notesMaster" Target="/ppt/notesMasters/notesMaster1.xml" Id="R39a1b523239047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1dfbddff01436c" /><Relationship Type="http://schemas.openxmlformats.org/officeDocument/2006/relationships/notesMaster" Target="/ppt/notesMasters/notesMaster1.xml" Id="Raa1564d08fd0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8f8d701784e39" /><Relationship Type="http://schemas.openxmlformats.org/officeDocument/2006/relationships/notesMaster" Target="/ppt/notesMasters/notesMaster1.xml" Id="R6bb20c975e0942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288d1bbeaa490e" /><Relationship Type="http://schemas.openxmlformats.org/officeDocument/2006/relationships/notesMaster" Target="/ppt/notesMasters/notesMaster1.xml" Id="R1a8eb90a7a4a46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b8b087e3684327" /><Relationship Type="http://schemas.openxmlformats.org/officeDocument/2006/relationships/notesMaster" Target="/ppt/notesMasters/notesMaster1.xml" Id="Rb20bd1014b6e4e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076fb0d7a24c22" /><Relationship Type="http://schemas.openxmlformats.org/officeDocument/2006/relationships/notesMaster" Target="/ppt/notesMasters/notesMaster1.xml" Id="R8e4db45ad37c4b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bc2dc47f4f4892" /><Relationship Type="http://schemas.openxmlformats.org/officeDocument/2006/relationships/notesMaster" Target="/ppt/notesMasters/notesMaster1.xml" Id="R0344cbcc51a341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f22e28de694cf8" /><Relationship Type="http://schemas.openxmlformats.org/officeDocument/2006/relationships/notesMaster" Target="/ppt/notesMasters/notesMaster1.xml" Id="Ra5192abd7130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Heading style reference: Industrial Training Presentation Template [Autosaved].pptx.</a:t>
            </a:r>
          </a:p>
          <a:p xmlns:a="http://schemas.openxmlformats.org/drawingml/2006/main">
            <a:r>
              <a:t>Project sources: README.md and client/server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and Agent Tools tables.</a:t>
            </a:r>
          </a:p>
          <a:p xmlns:a="http://schemas.openxmlformats.org/drawingml/2006/main">
            <a:r>
              <a:t>Counts are derived from the documented routes and tool exports.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server/rag/tools.js, server/rag/agent.js,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Stack section and package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architecture diagram and server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server/rag/vectorStore.js.</a:t>
            </a:r>
          </a:p>
          <a:p xmlns:a="http://schemas.openxmlformats.org/drawingml/2006/main">
            <a:r>
              <a:t>The implementation retrieves two times the target candidate count, applies RRF, then returns the top four reranked chunks.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server/rag/agent.js and server/rag/tools.js.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server/middleware/auth.js, rateLimit.js, auditLogger.js, and server/rag/agent.js.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API Endpoints, server/seed.js, server/models/Session.js, and server/routes.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local project on 2026-09-29.</a:t>
            </a:r>
          </a:p>
          <a:p xmlns:a="http://schemas.openxmlformats.org/drawingml/2006/main">
            <a:r>
              <a:t>Source: client/src/routes and client/src/styles.css.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command executed: npm test in server directory.</a:t>
            </a:r>
          </a:p>
          <a:p xmlns:a="http://schemas.openxmlformats.org/drawingml/2006/main">
            <a:r>
              <a:t>Result: 2 suites passed and 11 tests passed.</a:t>
            </a:r>
          </a:p>
          <a:p xmlns:a="http://schemas.openxmlformats.org/drawingml/2006/main">
            <a:r>
              <a:t>Other runners exist in server/package.json but were not executed because they require configured external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Known Limitations &amp; Design Tradeoffs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 based on implemented features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c13cde2dd4b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2d3d1b6cb47a4" /><Relationship Type="http://schemas.openxmlformats.org/officeDocument/2006/relationships/slideLayout" Target="/ppt/slideLayouts/slideLayout1.xml" Id="Rb40ea54f09df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0ea54f09df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3a2e2485c4d2f" /><Relationship Type="http://schemas.openxmlformats.org/officeDocument/2006/relationships/image" Target="/ppt/media/image.png" Id="R1432c7ffe46d468f" /><Relationship Type="http://schemas.openxmlformats.org/officeDocument/2006/relationships/notesSlide" Target="/ppt/notesSlides/notesSlide1.xml" Id="R4fd2ab2088a7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a1ecd59a94c91" /><Relationship Type="http://schemas.openxmlformats.org/officeDocument/2006/relationships/notesSlide" Target="/ppt/notesSlides/notesSlide2.xml" Id="R5624dadfa968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9a1b2d4344f18" /><Relationship Type="http://schemas.openxmlformats.org/officeDocument/2006/relationships/notesSlide" Target="/ppt/notesSlides/notesSlide3.xml" Id="R66dee0f59404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e5429794343d3" /><Relationship Type="http://schemas.openxmlformats.org/officeDocument/2006/relationships/notesSlide" Target="/ppt/notesSlides/notesSlide4.xml" Id="Rf07758054739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40438eddf4a3e" /><Relationship Type="http://schemas.openxmlformats.org/officeDocument/2006/relationships/notesSlide" Target="/ppt/notesSlides/notesSlide5.xml" Id="Rf45a5b3828a1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83aca28c54ec4" /><Relationship Type="http://schemas.openxmlformats.org/officeDocument/2006/relationships/notesSlide" Target="/ppt/notesSlides/notesSlide6.xml" Id="Rb921476e804942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fbfd890f8498d" /><Relationship Type="http://schemas.openxmlformats.org/officeDocument/2006/relationships/notesSlide" Target="/ppt/notesSlides/notesSlide7.xml" Id="R1946da20fdcb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563d4d2114422" /><Relationship Type="http://schemas.openxmlformats.org/officeDocument/2006/relationships/notesSlide" Target="/ppt/notesSlides/notesSlide8.xml" Id="R40f541f2856e41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ab571f4c64ca0" /><Relationship Type="http://schemas.openxmlformats.org/officeDocument/2006/relationships/notesSlide" Target="/ppt/notesSlides/notesSlide9.xml" Id="R05c5fa0d703d47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20d0bcbee43c4" /><Relationship Type="http://schemas.openxmlformats.org/officeDocument/2006/relationships/image" Target="/ppt/media/image2.png" Id="R9ba53bb8442d4cb3" /><Relationship Type="http://schemas.openxmlformats.org/officeDocument/2006/relationships/image" Target="/ppt/media/image3.png" Id="R6f3eb5707ef54d79" /><Relationship Type="http://schemas.openxmlformats.org/officeDocument/2006/relationships/notesSlide" Target="/ppt/notesSlides/notesSlide10.xml" Id="Rf41be4c30eb145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b91ba66b4ef6" /><Relationship Type="http://schemas.openxmlformats.org/officeDocument/2006/relationships/notesSlide" Target="/ppt/notesSlides/notesSlide11.xml" Id="Rc3a851f23e7545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faff36904d84" /><Relationship Type="http://schemas.openxmlformats.org/officeDocument/2006/relationships/notesSlide" Target="/ppt/notesSlides/notesSlide12.xml" Id="Redf836f39ac44b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ea66834ed4a13" /><Relationship Type="http://schemas.openxmlformats.org/officeDocument/2006/relationships/notesSlide" Target="/ppt/notesSlides/notesSlide13.xml" Id="Rec3c06a32fa749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78FBA-841B-4D2A-A74D-FBED289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Industrial Training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C6564-2ADA-4752-9917-2353AC2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MERN + LANGCHAIN + GEMINI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57E8-3D30-418D-8805-5AE2B160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905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AI Customer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Chatbot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AE3EC-2F9E-4271-8A82-CED9144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810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RAG-powered support platform that answers policy questions, performs account actions, and hands complex cases to human agents.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2c7ffe46d468f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323975"/>
            <a:ext cx="5619750" cy="3162300"/>
          </a:xfrm>
          <a:prstGeom xmlns:a="http://schemas.openxmlformats.org/drawingml/2006/main" prst="roundRect">
            <a:avLst>
              <a:gd name="adj" fmla="val 54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9D457-3A48-4FE1-A783-EAD4C40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682C1-5CF1-4631-B1FA-5D28AB2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D0300-8A34-4F46-B6E5-9DA95176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769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Source: working codebase and verified unit tests</a:t>
            </a:r>
          </a:p>
        </p:txBody>
      </p:sp>
    </p:spTree>
    <p:extLst>
      <p:ext uri="{BB962C8B-B14F-4D97-AF65-F5344CB8AC3E}">
        <p14:creationId xmlns:p14="http://schemas.microsoft.com/office/powerpoint/2010/main" val="859772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36D01-7EA8-45FF-AA51-10DD9814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FD015-4453-4BF1-B989-314F613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F9213-4AAF-48DF-9E7E-83807178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549DE-AF31-44A6-B9DE-38BEF978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A6305-6E30-42E6-AF8C-9C4EA31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0B82A-8A60-4239-ABE1-8FF51FBB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070-DAC1-473F-BC5B-3F934767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teams repeat the same policy answers while order actions and difficult conversations still require secure access to business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07BD2-4282-412C-A023-66663D4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This project combines grounded answers with controlled tool use so one conversation can move from information to action and, when needed, to a human agent.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F30C1-E7C2-4A67-9949-D1799146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D95CC-5810-4CEE-83AF-03216822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purpose-built agent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B090D-6B88-401C-93EC-CD8F95D3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1F251-A60A-4AF4-B577-3E53707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documented API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DFDC4-BBA5-4FC8-8632-03D2B62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987BF-8633-48B7-82F3-A008E70B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databases with distinct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DE890-4040-4D05-96F8-BB7C54A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6707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1D730-D979-4D5C-8BB1-37802BD7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05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live human handoff channel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501CC-2F14-4B79-8C5B-61E300B1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24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A1743-2BB6-4AC3-AF3C-7888C6E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Customer chat, knowledge ingestion, authentication, refunds, tickets, analytics, and audit trails.</a:t>
            </a:r>
          </a:p>
        </p:txBody>
      </p:sp>
    </p:spTree>
    <p:extLst>
      <p:ext uri="{BB962C8B-B14F-4D97-AF65-F5344CB8AC3E}">
        <p14:creationId xmlns:p14="http://schemas.microsoft.com/office/powerpoint/2010/main" val="450219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E9B4E-1CF1-4196-BF20-CB74BF30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Core Support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9E115-0E94-4F66-898F-EDA0604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A32A-57AF-4C03-9539-CC77E4F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DDE9-4A06-464D-8ACE-BA8A554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09E2D-38E1-4BCE-B68C-26B4E29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5E377-16C5-40EA-B508-C34C38F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One conversation supports both informational questions and account-specific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41060-9313-4A71-8D5B-6C6AB47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09BE3-BBBA-42D3-9E72-1BF77246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D8BB-FF58-4F1E-B45C-B4C117C0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Policy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835BA-0FD6-47A6-A457-FD522D3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retrieval returns the most relevant knowledge-base chunks.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DDDB-0428-47C3-9344-D81F3E3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CC7CC-2AD7-4BF9-9018-EE8E2F4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C94E1-AAFC-4642-9B44-3DF894FC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9483C-40CF-43DE-95F7-4E91DA1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agent queries PostgreSQL for items, tracking, and status timestamps.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D376D-1BD7-4B33-BCE6-6EB1996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93E91-4400-430B-A199-97712AF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0D5EE-80D5-4C1B-A2B2-99071C9B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26C8A-71B0-4317-8EC6-5D0489F2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Eligibility comes first. The system creates a refund only after explicit confirmation.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D9F7-3048-4C53-8FC9-DC7580C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2505075" cy="29908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AEC0D-4866-47B6-8219-31487657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FEE99-1398-4F54-8D86-F06A9B6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Human 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AB79B-0552-4287-9D85-65166F2D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214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 high-priority ticket carries recent conversation context to the admin workspace.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956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769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58225" y="35242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1C2"/>
            </a:solidFill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A6568-E240-4DD9-A37D-645014E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The same session ID links the chat, tool calls, and escalation context.</a:t>
            </a:r>
          </a:p>
        </p:txBody>
      </p:sp>
    </p:spTree>
    <p:extLst>
      <p:ext uri="{BB962C8B-B14F-4D97-AF65-F5344CB8AC3E}">
        <p14:creationId xmlns:p14="http://schemas.microsoft.com/office/powerpoint/2010/main" val="1823063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53896-A212-491F-9E24-8CB1794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AE7C-4D28-4534-BFC6-9530CA65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E9487-1CB6-4657-B831-BD56260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388C3-4710-4CDC-B20B-4FA4B8E0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2416E-DB0B-4CBB-A9FE-A2676290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38433-4823-4C46-B333-E9B4497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D3483-AC7E-4B77-A9EC-CE2FD3A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811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69B74-FD55-4C59-B4AB-5EE3B5A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906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3DEE0-EB14-4D0B-A8B4-482DDCBF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React 19, Vite, Tailwind CSS, TanStack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FD883-EF91-4B77-B6E0-03B8CB2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129DE-D2A1-4B8D-A042-17BCBFE1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D5942-3469-4AAF-ACBD-8FC58964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E112E-D3D1-457F-94D7-7251AE4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Node.js, Express, Socket.io, 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F7C80-F930-47AB-BA0A-941E4E1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2EBBD-E350-4169-AA27-2C9DD1DF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ED875-B928-4990-A5EA-E1781B70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72697-EA4B-42D4-B3AB-06B29B10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chat model and 768-dimensional embeddings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9A0C3-A8C2-428B-9DDC-851A3D24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5124D-6F9B-4CBF-A7E2-98966A66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0025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DECA5-7E8B-4EF9-8030-15D384B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95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9F36D-70AC-4A52-8A96-1FF5ACCB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PostgreSQL, MongoDB Atlas Vector Search, Cloudinary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B8F9D-C6F8-406E-AF9F-01B3851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156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03378-2E86-4A2F-92A2-4065C3C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773A4-2C2A-4A05-B932-AA80980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9F0EF-1C99-4987-B294-7DFADDD5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JWT, refresh tokens, Helmet, rate limiting, PII masking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F61DB-9BF9-4823-8CC1-0C5980C2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9122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stack separates interface, orchestration, retrieval, business data, and operational controls.</a:t>
            </a:r>
          </a:p>
        </p:txBody>
      </p:sp>
    </p:spTree>
    <p:extLst>
      <p:ext uri="{BB962C8B-B14F-4D97-AF65-F5344CB8AC3E}">
        <p14:creationId xmlns:p14="http://schemas.microsoft.com/office/powerpoint/2010/main" val="2136259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D1B54B-1814-4A04-85E5-9E2102A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C519-6B70-4730-AD19-041D9594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6DCBA-27F5-4B6C-B581-F0694AD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261DF-C120-4DD1-9E9A-0D383194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31609-1042-4759-A8ED-59F150B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B8E09-29C4-4221-8E59-36A0E45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2CEA1-9DFC-488E-B176-10B66D3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C588E-7EAF-469A-9403-9682D27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UI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DE5AA-9BD6-4031-A6C3-C21E86A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9A323-D92E-4E74-A371-BD594B41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API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C3205-16A5-4B1F-A374-F5B5427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REST routes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3DF77-95A4-4EA3-82AF-5ECEA4B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2397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E2D66-5F06-4539-8B60-437E543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335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08BC2-A02D-4CB4-A171-48E0F86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Gemini model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Tool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6E8E5-1F8C-4FFC-AE2F-356692C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239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4F437-A2C0-453E-934A-23FC13F1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33525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5A50D-36AF-41AD-A08B-DA7EF71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431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Answer or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293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01100" y="189547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799"/>
            </a:solidFill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3B7B9-884C-4D14-ABF1-D8FCC7A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CONNECTED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7DAF2-A927-4CEA-9A74-07358EB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DB291-9547-47FE-A652-E6D34B5B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96F5E-1CD2-4890-8348-62F801C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6667A-749A-4D1A-8EA8-09EBAEA7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Users, orders, refunds, tickets</a:t>
            </a:r>
          </a:p>
        </p:txBody>
      </p:sp>
      <p:cxnSp>
        <p:nvCxnSpPr>
          <p:cNvPr id="67" name=""/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919288" y="2466975"/>
            <a:ext cx="57864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1BBCF-2ECB-4587-9863-3B11090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B5CD3-D761-400D-9ADD-33B662F4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05253-393D-42B2-8B2F-8C51371D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41D16-BD5F-4FDE-B8B0-C707050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Sessions, document chunks, vectors</a:t>
            </a:r>
          </a:p>
        </p:txBody>
      </p:sp>
      <p:cxnSp>
        <p:nvCxnSpPr>
          <p:cNvPr id="72" name=""/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710113" y="2466975"/>
            <a:ext cx="299561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FCC68-D6D5-430B-97FE-50825AFD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CDFF4-0292-4E0F-8164-C9E8D820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0AD32-8477-4D55-AF22-A7AB6653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Cloudinary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3B59C8-7BF2-4E63-8CD6-946BFD7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Uploaded knowledge documents</a:t>
            </a:r>
          </a:p>
        </p:txBody>
      </p:sp>
      <p:cxnSp>
        <p:nvCxnSpPr>
          <p:cNvPr id="77" name=""/>
          <p:cNvCxnSpPr>
            <a:stCxn xmlns:a="http://schemas.openxmlformats.org/drawingml/2006/main" id="1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7500938" y="2466975"/>
            <a:ext cx="20478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493ED-6C9B-4673-B5E7-DF626CD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3B591B-AD82-449C-87DB-AF18A5F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43300"/>
            <a:ext cx="25050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911A73-5362-4A0D-8A24-AA46ED08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Audit 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B9724B-55AC-4A25-8D07-B42287D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5292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PII-masked tool events</a:t>
            </a:r>
          </a:p>
        </p:txBody>
      </p:sp>
      <p:cxnSp>
        <p:nvCxnSpPr>
          <p:cNvPr id="82" name=""/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05725" y="2466975"/>
            <a:ext cx="25860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4BDCA"/>
            </a:solidFill>
          </a:ln>
        </p:spPr>
      </p:cxnSp>
    </p:spTree>
    <p:extLst>
      <p:ext uri="{BB962C8B-B14F-4D97-AF65-F5344CB8AC3E}">
        <p14:creationId xmlns:p14="http://schemas.microsoft.com/office/powerpoint/2010/main" val="461350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95559-3603-4E2C-A61D-EF9FBE5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Hybrid RAG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35529-9F90-4C9E-A717-F7FB547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50BE8-5587-47C8-94DC-1F27425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E8A9F-942D-4F5C-AE59-6130A44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53195-29B3-484F-B1CB-2E291BC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36A28-5F52-4DF0-BD1D-6F521569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retrieval and exact-term matching run in parallel before rank fusion and reranking.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87B00-DB09-4987-82A7-857FE21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3837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3243B-C5D6-4030-9110-72A09346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431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User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D71A5-80D5-4C8E-86E1-4FF3D82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EFFF"/>
          </a:solidFill>
          <a:ln xmlns:a="http://schemas.openxmlformats.org/drawingml/2006/main" w="14288">
            <a:solidFill>
              <a:srgbClr val="D7CE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75F4E-CAA5-4B8D-8D66-41FC24CB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0975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Vector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BE401-31E6-4CE2-B3FD-795FFED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193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Semantic similarity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C8BF-55F4-4C3E-906E-744A75B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2047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FA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6E6DF-A23E-4E13-9C56-101CD6E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528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Keyword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BCEF2-5857-4418-8BFF-1AD0A0E5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6237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Exact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D9C05-5B48-4AED-B726-2A2D6AB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27EDE-9331-469F-8B07-EBEAD3D6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RRF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FEB2F-6775-4A37-9F2F-34CE62B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Merge ranked 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73D99-E4DC-4F7E-9C37-4F24F919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4288">
            <a:solidFill>
              <a:srgbClr val="F0C3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C0CC0-9C3A-4F80-843F-FF325B2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003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Term-overlap reranker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124E6-700B-41CD-9417-06DB4DA6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908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Top 4 chunks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200275" y="2133600"/>
            <a:ext cx="90487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00275" y="2771775"/>
            <a:ext cx="90487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headEnd type="arrow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153025" y="2133600"/>
            <a:ext cx="96202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head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153025" y="2771775"/>
            <a:ext cx="9620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590A2"/>
            </a:solidFill>
            <a:headEnd type="arrow" w="sm" len="sm"/>
          </a:ln>
        </p:spPr>
      </p:cxn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15300" y="27717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90A2"/>
            </a:solidFill>
            <a:head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FCB31-9919-4DEA-BA40-D83614E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Why hybrid retrieval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C461A-6B93-40A0-97FC-01FD22A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Vector search handles paraphrases. Keyword search protects exact matches such as order IDs, SKUs, and product names.</a:t>
            </a:r>
          </a:p>
        </p:txBody>
      </p:sp>
    </p:spTree>
    <p:extLst>
      <p:ext uri="{BB962C8B-B14F-4D97-AF65-F5344CB8AC3E}">
        <p14:creationId xmlns:p14="http://schemas.microsoft.com/office/powerpoint/2010/main" val="833169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ACD2C8-29AC-4F20-8677-A955FF5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Agent Tools 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99F7A-A7EE-4BAE-BE8B-3738FB1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A0E17-78E6-4461-99E6-3FC6CAF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F37CD-D31A-48F7-9C18-A23DD341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C818C-988F-4512-8093-E5B2FAF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71962-9973-4C21-A596-8C7F77BC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D5080-155A-42E9-A4BA-4FCEEDFD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5BF94-4AE3-4162-8528-B9F39BFF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47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F6BFF"/>
                </a:solidFill>
                <a:latin typeface="Consolas"/>
                <a:ea typeface="Consolas"/>
                <a:cs typeface="Consolas"/>
              </a:rPr>
              <a:t>check_order_status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D21F-4AFF-4CAB-BA95-989E6E85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09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Reads order items, tracking, and lifecycle timestamps.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A3747-94A9-4F6D-A3C4-1F35227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B3898-F88D-4966-9AF0-57AD4FD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3AA19-2C73-42E0-9506-2B9E617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81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initiate_refund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9A50C-616B-4CD1-996D-B29EE4D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432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Checks eligibility, requests confirmation, then creates a refund.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DE6E5-E41D-49DF-95DD-A3C3FA80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07879-B4CB-4A51-80B7-10055249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26D0D-0136-42A5-99B5-64B4E184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7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0A67E"/>
                </a:solidFill>
                <a:latin typeface="Consolas"/>
                <a:ea typeface="Consolas"/>
                <a:cs typeface="Consolas"/>
              </a:rPr>
              <a:t>search_knowledge_base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AE744-F326-49E6-A549-F2B7C46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76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Returns grounded context from hybrid retrieval.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4A85A-E801-43DB-AC31-116D7069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1805D-825D-4224-AAAB-EA43F500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1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8A1CB-6D87-45AF-BFCA-D72C86B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57E8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7457E8"/>
                </a:solidFill>
                <a:latin typeface="Consolas"/>
                <a:ea typeface="Consolas"/>
                <a:cs typeface="Consolas"/>
              </a:rPr>
              <a:t>escalate_to_human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0361E-D9CB-4E5A-B71A-F4287AD1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Creates a ticket with recent conversation context.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010FA-0586-4B73-B189-B651788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2858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EXECUTION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7DE0B-FECF-42BA-93A5-018D20B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240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3E01B-204F-4768-9E6C-7F2221C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C6A4D-9F41-493D-AC9F-C634A06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5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Build system prompt and session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3F7E0F-55AA-407F-A179-C1F65096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384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1300B-2629-4790-A28C-574E4984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0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4CA72-5751-4ECA-A096-BDF2F4B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Ask Gemini for a response or tool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9FB86-B2B2-48D7-A483-5251FD4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528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5D93A-B6EA-4385-842D-AC0314DA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30D311-581F-486E-8C0E-442AD6C2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242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Execute the selected tool and audit the 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95BAF4-8D44-49AB-A378-8E62ADB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67225"/>
            <a:ext cx="4581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E6AA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50699D-2F96-40D6-9A49-D39826F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355C9-800D-420B-B587-6C2DD9DB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386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Return the final answer within six tool rounds</a:t>
            </a:r>
          </a:p>
        </p:txBody>
      </p:sp>
      <p:cxnSp>
        <p:nvCxnSpPr>
          <p:cNvPr id="72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777288" y="24669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headEnd type="arrow" w="sm" len="sm"/>
          </a:ln>
        </p:spPr>
      </p:cxnSp>
      <p:cxnSp>
        <p:nvCxnSpPr>
          <p:cNvPr id="73" name=""/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77288" y="33813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777288" y="42957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AB3C1"/>
            </a:solidFill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929831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F3299-DF68-4F60-8EDA-7A003C1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Security and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E75A0-3083-479B-B752-2AA6AEB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BBB3B-B6BF-4876-9944-EB40E199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5CE41-0B3D-457B-8849-707B326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1936-A9D4-49AA-B6CA-3A8B688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70DA6-ED65-46EC-9709-91ED52E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430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FAFE5-2D4C-4E7F-A6C6-C4E609F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66950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layers of operational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37483-8B4D-4D1E-8EFD-2A020C3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28975"/>
            <a:ext cx="2524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The controls protect access, limit abuse, constrain tool use, and reduce sensitive data exposure in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EC18-60F8-4388-AF2A-3A9322F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E18D7-A11F-4212-A12F-A9073B59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21ADD-5779-4283-B52B-0393B09E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F3685-404F-4FDD-BD00-47AF5E66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Short-lived JWT access tokens and refresh-token rotation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603C4-B44A-4109-90E2-E21334A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CF556-040B-4512-9B52-EF3584B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7394D-C34E-41CA-B60C-760D67CB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4CA4-73E0-4BC5-BF62-8171743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Admin-only ingestion, analytics, and ticket 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17146-8056-46D7-83EE-177AAC5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3FD5B-1E71-4503-A3E4-B5780DE4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2BCC0-9780-418A-A100-1CB0355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63FC0-18E1-406A-A1B5-A28C6FE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Separate limits for chat, authentication, and other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391A1-C903-4435-9DB9-581F503F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23825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24AEC-A034-4C29-ACA6-E350F992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DBEF2-04B9-4C18-A24A-60F198B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81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37480-420B-4D04-B2B0-CACB454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81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System prompt rules for domain limits and prompt-injection attempts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A311C-25E8-4165-B60B-4FA90060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76525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6D3B6-B4DD-4EBA-A5A8-A3980DE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05AE6-4C87-4C5F-9ECB-CE1F038D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194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Safe refunds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94780-CED0-4836-A130-33825042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Two-step confirmation plus duplicate-refund prevention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B7AC3-2B79-40E3-981F-D9671163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14800"/>
            <a:ext cx="3476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FD48C-C310-4911-8D93-FB48D34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767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5BEC3-AC5F-443F-86F6-E964B6AF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Audit privacy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7A67B-DF79-478F-907E-78660DF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577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Email, phone, card, and address patterns masked before logging</a:t>
            </a:r>
          </a:p>
        </p:txBody>
      </p:sp>
    </p:spTree>
    <p:extLst>
      <p:ext uri="{BB962C8B-B14F-4D97-AF65-F5344CB8AC3E}">
        <p14:creationId xmlns:p14="http://schemas.microsoft.com/office/powerpoint/2010/main" val="672093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99AF3-58A7-4955-B9A0-0BE0DCA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and API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FD959-5EDE-47F1-90F3-4F0B5CE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634DD-39EC-4203-98E7-C8F5A8FE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B1579-376D-44C0-AAE5-AD01597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22F1E-7A83-4539-B469-13DC0A8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1B36-9890-4DC0-A1F9-15CB4BC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STORAGE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B4192-FD41-406F-92F0-30434D8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DA35A-51E2-4B6A-B51E-12AB7DB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8703-E375-495A-B829-F088D9B5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95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Transactional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AE03A-A520-45A1-B4DF-42BA777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Users and refresh tokens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Orders and order items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Refunds, tickets, and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107E9-8530-42B3-8BFF-107B1676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0482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C9D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0BC2A-BDBD-4741-BF72-CE00C841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47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MongoDB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C1D5E-AB71-4D55-9C6C-23B2D27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Conversation and retrieval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EE9B4-464B-46F6-B6DA-ABF6D0B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52675"/>
            <a:ext cx="4286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sessions and messages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Embedded document chunks</a:t>
            </a:r>
          </a:p>
          <a:p xmlns:a="http://schemas.openxmlformats.org/drawingml/2006/main">
            <a:pPr marL="254000" indent="-139700" algn="l">
              <a:spcAft>
                <a:spcPts val="500"/>
              </a:spcAft>
              <a:buChar char="•"/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Vector and text-search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D5371-9AF6-4789-AF5A-90C6B7A7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API 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9BC5A-6B30-49A4-A1A2-D4FBBF0E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C4269-D6BC-4158-9299-66CED6AB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76ECA-5A98-4628-A62A-F03B3CC7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D309A-36B6-4B67-B81F-06C936B1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DF78C-0455-4ECD-B1DC-3EA75C8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7B8C7-3E7A-44D8-95D8-A751ED8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and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FA2F9-5B8B-48BD-B86A-91FC610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E3342-2304-4ED1-8EBA-738EEAF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3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1E7F4-8666-4A56-9F68-42B1057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8E5DD-0B37-435D-A416-1995BAB8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050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3867E-09C0-4FC1-8C29-CC68836D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14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4 routes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A999C-822C-4298-B682-58595EF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Analytics and tickets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AE0DE-A742-4BDD-BA40-5F86796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Cloudinary stores source documents while MongoDB stores extracted chunks and embeddings.</a:t>
            </a:r>
          </a:p>
        </p:txBody>
      </p:sp>
    </p:spTree>
    <p:extLst>
      <p:ext uri="{BB962C8B-B14F-4D97-AF65-F5344CB8AC3E}">
        <p14:creationId xmlns:p14="http://schemas.microsoft.com/office/powerpoint/2010/main" val="16706548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0881-DE1F-44E4-AD5E-9172BFC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User and Admin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3F3D0-C666-4EDF-B076-4755712D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2F81B-83F3-4BA6-99D9-9C69D6E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F4EF7-4FDB-4031-A84F-1586944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31A59-DBE3-4B96-903A-0421D991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90A36-D563-4D8F-A032-ABCEECE7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Landing and product positioning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53bb8442d4cb3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9DA18-7E2A-4614-BED2-5DEF14AB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811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Focused conversation workspace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eb5707ef54d79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90675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557F1-59E1-448E-897D-18102B2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79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Responsive dark and light themes with accessible input controls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Socket.io updates switch the conversation to a human agent</a:t>
            </a:r>
          </a:p>
          <a:p xmlns:a="http://schemas.openxmlformats.org/drawingml/2006/main">
            <a:pPr marL="254000" indent="-139700" algn="l">
              <a:spcAft>
                <a:spcPts val="700"/>
              </a:spcAft>
              <a:buChar char="•"/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Admin pages manage tickets, knowledge documents, and operational analytics</a:t>
            </a:r>
          </a:p>
        </p:txBody>
      </p:sp>
    </p:spTree>
    <p:extLst>
      <p:ext uri="{BB962C8B-B14F-4D97-AF65-F5344CB8AC3E}">
        <p14:creationId xmlns:p14="http://schemas.microsoft.com/office/powerpoint/2010/main" val="1841742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3D9D46-6365-4A3D-9DDC-CC2BFDA0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Testing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07DA6-278A-4854-903C-AD9D0233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510B5-9CE1-4DD9-A36D-A64282E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384B4-2799-4580-89CC-2527098E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44852-F646-4E1C-9277-476EC75E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139C-492F-45C6-93F4-409D69FA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23975"/>
            <a:ext cx="3457575" cy="3981450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ECFBF6"/>
          </a:solidFill>
          <a:ln xmlns:a="http://schemas.openxmlformats.org/drawingml/2006/main" w="14288">
            <a:solidFill>
              <a:srgbClr val="BDEB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30940-ABE8-4B99-A1E4-8A430BC6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AC19A-AB6F-43B2-B557-79907317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285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EF07-8F0E-47A2-A6E4-699707E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52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2 suites verified on 29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3920D-BF3A-41C3-B95A-46453D44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290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Coverage includes the agent loop, order lookup, refund checks, duplicate prevention, escalation, and error handling.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57495-1C0B-4C29-9178-E457A08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239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EF6A1-452B-4292-8251-950A959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6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184FA-FD53-4C05-893E-B8C221DD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81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61B9B-16B5-4500-99F0-766D68E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485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Unit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CB6E9-EB94-431C-AF0D-02556CE9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14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Verified passing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7FB5A-F604-41AD-831C-745A23E3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907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3FC6B-8DE8-472D-933C-983E0B6D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7507E-A5D8-4331-93C0-731948B6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47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D373B-A94D-485B-A07F-6DC8D4F0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Integration runner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C3113-61C7-49B8-824D-E3EF8134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81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live databases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5C0B2-AEC9-4087-8F18-16112C4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575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63137-2C66-4BE2-86FC-161F4C4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95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42946-1D3B-4178-B049-8D63C85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14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A82B0-77C7-4E48-9DA6-B490CFD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619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Prompt-injection runner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0B54B-6F37-45A1-80D7-F8200574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Available, requires configured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7451D-5009-4CC7-B02C-DC9EBB7A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24375"/>
            <a:ext cx="6905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6A27A-F703-422B-9B6F-F1BA351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9858B-5AB3-4D35-A676-CC05DF56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81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30943-AC8C-4DAC-8069-24428A0A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86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RAG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4DD80-0DFA-48E4-8A38-6601101F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30-query recall and precision script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CF000-F5C5-4B7D-9A47-305CF343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81675"/>
            <a:ext cx="690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The deck reports only the unit suite as executed and passing.</a:t>
            </a:r>
          </a:p>
        </p:txBody>
      </p:sp>
    </p:spTree>
    <p:extLst>
      <p:ext uri="{BB962C8B-B14F-4D97-AF65-F5344CB8AC3E}">
        <p14:creationId xmlns:p14="http://schemas.microsoft.com/office/powerpoint/2010/main" val="1873296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86B49-4D3E-4B2A-8293-4ED411D6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Limitations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C137B-44A8-4BEA-9620-0F8567E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B197F-22AE-4A35-9342-DAA0C77A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3905C-FCCB-4A48-9E65-FAC48F5A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64C22-8D8E-4E94-8B95-BB092DF9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81FE3-347A-4FD9-B0FF-D30EF98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CURRENT TRADEOFFS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C6A0F-2ABD-4F82-A448-796DD7EA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96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F61AC-87C6-4352-9A1F-ACE4197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Agent memory lives in one server process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Chat responses return only after the full tool loop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Reranking uses exact term overlap instead of a learned model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Knowledge ingestion currently accepts PDF files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Rate limits reset when the server restarts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Refund confirmation still depends on model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EDC3F-6682-44AE-B681-2638858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49530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Move session memory and rate counters to Redis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Stream partial responses through SSE or WebSockets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cross-encoder reranker and retrieval telemetry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Support DOCX, TXT, JSON, and CSV ingestion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Add a deterministic approval gate for refunds</a:t>
            </a:r>
          </a:p>
          <a:p xmlns:a="http://schemas.openxmlformats.org/drawingml/2006/main">
            <a:pPr marL="254000" indent="-139700" algn="l">
              <a:spcAft>
                <a:spcPts val="1200"/>
              </a:spcAft>
              <a:buChar char="•"/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Summarize long conversations before the context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33CBA-F5A0-44C7-BF7F-DED7F431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6965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AD9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47D8-7177-45A3-A165-2E9FF43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31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Priority: make state and policy enforcement deterministic before scaling traffic.</a:t>
            </a:r>
          </a:p>
        </p:txBody>
      </p:sp>
    </p:spTree>
    <p:extLst>
      <p:ext uri="{BB962C8B-B14F-4D97-AF65-F5344CB8AC3E}">
        <p14:creationId xmlns:p14="http://schemas.microsoft.com/office/powerpoint/2010/main" val="20830279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50F23-6B8E-49DC-8293-5616002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9075"/>
            <a:ext cx="9420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  <p:txBody>
          <a:bodyPr xmlns:a="http://schemas.openxmlformats.org/drawingml/2006/main" lIns="133350" tIns="0" rIns="1333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C8628-6901-47A4-8223-A6FCF8F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54F66-41A1-4772-81A5-1B26807D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F9BB8-E35A-4E35-8514-5042060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27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AI Customer Support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64D3A-E35E-4301-8173-BE000B65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E609-5BEF-4765-8A9F-99F646EC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00175"/>
            <a:ext cx="10267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 working support system that connects grounded answers to real customer-service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01866-C95E-46EA-92DD-7EF0D7D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DC4F9-09ED-4596-9257-C00174A3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9CE37-4772-4E01-8905-D83DBD1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BFF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C039B-0CDD-455A-8B4D-9A5A21DB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Hybrid RAG searches store-specific knowledge.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1952B-6421-4B3C-9AF1-B3D22613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6EA96-F252-4492-9377-7126834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E"/>
          </a:solidFill>
          <a:ln xmlns:a="http://schemas.openxmlformats.org/drawingml/2006/main" w="0">
            <a:solidFill>
              <a:srgbClr val="00A67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06682-CE6A-4F62-9AFC-BFD915EF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7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7E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007D6-9CE4-43D7-A7E7-247BE312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Tools query orders and create refund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179C1-BED2-4625-AA18-5D17679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26181-043C-4276-AF98-3CD4E093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7E8"/>
          </a:solidFill>
          <a:ln xmlns:a="http://schemas.openxmlformats.org/drawingml/2006/main" w="0">
            <a:solidFill>
              <a:srgbClr val="7457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F4D78-2969-43A7-9BCE-6D948A3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5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57E8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2A44D-3056-41C1-8632-3FF1CB86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Complex cases carry context into human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86846-178C-4ABD-A492-53114F2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A769B-F3DA-4532-94D4-FFC9F372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8475"/>
            <a:ext cx="25050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EAF15-D775-4B77-9F7C-3D5C749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61AAE-0290-43A4-B81B-96512F3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67A"/>
                </a:solidFill>
                <a:latin typeface="Arial"/>
                <a:ea typeface="Arial"/>
                <a:cs typeface="Arial"/>
              </a:rPr>
              <a:t>Tests, analytics, feedback, and audit logs expose behavior.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5C982-4143-467B-B230-EDF8A54B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81625"/>
            <a:ext cx="10267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2750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2026-09-29T07:08:19.2460000Z</dcterms:created>
  <dcterms:modified xsi:type="dcterms:W3CDTF">2026-09-29T07:08:19.2470000Z</dcterms:modified>
</coreProperties>
</file>