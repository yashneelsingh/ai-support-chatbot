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a4fe1ec3d74787" /><Relationship Type="http://schemas.openxmlformats.org/officeDocument/2006/relationships/extended-properties" Target="/docProps/app.xml" Id="Rdf578dbbc5bc4c9c" /><Relationship Type="http://schemas.openxmlformats.org/officeDocument/2006/relationships/officeDocument" Target="/ppt/presentation.xml" Id="Rf2642014de9845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722ca2a5b2459b"/>
  </p:sldMasterIdLst>
  <p:notesMasterIdLst>
    <p:notesMasterId xmlns:r="http://schemas.openxmlformats.org/officeDocument/2006/relationships" r:id="R741a16885d024d6f"/>
  </p:notesMasterIdLst>
  <p:sldIdLst>
    <p:sldId xmlns:r="http://schemas.openxmlformats.org/officeDocument/2006/relationships" id="256" r:id="R09ab2c43a09f4480"/>
    <p:sldId xmlns:r="http://schemas.openxmlformats.org/officeDocument/2006/relationships" id="257" r:id="R58448dac4703417d"/>
    <p:sldId xmlns:r="http://schemas.openxmlformats.org/officeDocument/2006/relationships" id="258" r:id="Recc1fa4ff093450e"/>
    <p:sldId xmlns:r="http://schemas.openxmlformats.org/officeDocument/2006/relationships" id="259" r:id="R11d4da44b43b4f76"/>
    <p:sldId xmlns:r="http://schemas.openxmlformats.org/officeDocument/2006/relationships" id="260" r:id="R1516e9419ef448ce"/>
    <p:sldId xmlns:r="http://schemas.openxmlformats.org/officeDocument/2006/relationships" id="261" r:id="R9714cf17b016490b"/>
    <p:sldId xmlns:r="http://schemas.openxmlformats.org/officeDocument/2006/relationships" id="262" r:id="R73bc0456655e4cda"/>
    <p:sldId xmlns:r="http://schemas.openxmlformats.org/officeDocument/2006/relationships" id="263" r:id="Rd4cc42bf5eb34fcb"/>
    <p:sldId xmlns:r="http://schemas.openxmlformats.org/officeDocument/2006/relationships" id="264" r:id="R899e52ef7492442f"/>
    <p:sldId xmlns:r="http://schemas.openxmlformats.org/officeDocument/2006/relationships" id="265" r:id="R342c3c5de6344f08"/>
    <p:sldId xmlns:r="http://schemas.openxmlformats.org/officeDocument/2006/relationships" id="266" r:id="R3c9bb881ab8948da"/>
    <p:sldId xmlns:r="http://schemas.openxmlformats.org/officeDocument/2006/relationships" id="267" r:id="R46a97fdfe6b14585"/>
    <p:sldId xmlns:r="http://schemas.openxmlformats.org/officeDocument/2006/relationships" id="268" r:id="Rd0539655a3154d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a6d5b708d849e5" /><Relationship Type="http://schemas.openxmlformats.org/officeDocument/2006/relationships/slideMaster" Target="/ppt/slideMasters/slideMaster1.xml" Id="R3e722ca2a5b2459b" /><Relationship Type="http://schemas.openxmlformats.org/officeDocument/2006/relationships/notesMaster" Target="/ppt/notesMasters/notesMaster1.xml" Id="R741a16885d024d6f" /><Relationship Type="http://schemas.openxmlformats.org/officeDocument/2006/relationships/presProps" Target="/ppt/presProps.xml" Id="R8051ae65f74d41a5" /><Relationship Type="http://schemas.openxmlformats.org/officeDocument/2006/relationships/tableStyles" Target="/ppt/tableStyles.xml" Id="R31352176f4544c7a" /><Relationship Type="http://schemas.openxmlformats.org/officeDocument/2006/relationships/slide" Target="/ppt/slides/slide1.xml" Id="R09ab2c43a09f4480" /><Relationship Type="http://schemas.openxmlformats.org/officeDocument/2006/relationships/slide" Target="/ppt/slides/slide2.xml" Id="R58448dac4703417d" /><Relationship Type="http://schemas.openxmlformats.org/officeDocument/2006/relationships/slide" Target="/ppt/slides/slide3.xml" Id="Recc1fa4ff093450e" /><Relationship Type="http://schemas.openxmlformats.org/officeDocument/2006/relationships/slide" Target="/ppt/slides/slide4.xml" Id="R11d4da44b43b4f76" /><Relationship Type="http://schemas.openxmlformats.org/officeDocument/2006/relationships/slide" Target="/ppt/slides/slide5.xml" Id="R1516e9419ef448ce" /><Relationship Type="http://schemas.openxmlformats.org/officeDocument/2006/relationships/slide" Target="/ppt/slides/slide6.xml" Id="R9714cf17b016490b" /><Relationship Type="http://schemas.openxmlformats.org/officeDocument/2006/relationships/slide" Target="/ppt/slides/slide7.xml" Id="R73bc0456655e4cda" /><Relationship Type="http://schemas.openxmlformats.org/officeDocument/2006/relationships/slide" Target="/ppt/slides/slide8.xml" Id="Rd4cc42bf5eb34fcb" /><Relationship Type="http://schemas.openxmlformats.org/officeDocument/2006/relationships/slide" Target="/ppt/slides/slide9.xml" Id="R899e52ef7492442f" /><Relationship Type="http://schemas.openxmlformats.org/officeDocument/2006/relationships/slide" Target="/ppt/slides/slide10.xml" Id="R342c3c5de6344f08" /><Relationship Type="http://schemas.openxmlformats.org/officeDocument/2006/relationships/slide" Target="/ppt/slides/slide11.xml" Id="R3c9bb881ab8948da" /><Relationship Type="http://schemas.openxmlformats.org/officeDocument/2006/relationships/slide" Target="/ppt/slides/slide12.xml" Id="R46a97fdfe6b14585" /><Relationship Type="http://schemas.openxmlformats.org/officeDocument/2006/relationships/slide" Target="/ppt/slides/slide13.xml" Id="Rd0539655a3154d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13081b18a94a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0cae6ad0a9436a" /><Relationship Type="http://schemas.openxmlformats.org/officeDocument/2006/relationships/notesMaster" Target="/ppt/notesMasters/notesMaster1.xml" Id="R21a132f0a3da45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19f70f0000495d" /><Relationship Type="http://schemas.openxmlformats.org/officeDocument/2006/relationships/notesMaster" Target="/ppt/notesMasters/notesMaster1.xml" Id="R181ba32dc1994b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74210f2e6a49b7" /><Relationship Type="http://schemas.openxmlformats.org/officeDocument/2006/relationships/notesMaster" Target="/ppt/notesMasters/notesMaster1.xml" Id="Rb929d99c182448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8d1c81c1ce4367" /><Relationship Type="http://schemas.openxmlformats.org/officeDocument/2006/relationships/notesMaster" Target="/ppt/notesMasters/notesMaster1.xml" Id="R5462e7bd844940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3883e707e34d64" /><Relationship Type="http://schemas.openxmlformats.org/officeDocument/2006/relationships/notesMaster" Target="/ppt/notesMasters/notesMaster1.xml" Id="Rc3fc5c156e4540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1b42c60484499a" /><Relationship Type="http://schemas.openxmlformats.org/officeDocument/2006/relationships/notesMaster" Target="/ppt/notesMasters/notesMaster1.xml" Id="R93d4f06c7c914a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6976dc0c0047b0" /><Relationship Type="http://schemas.openxmlformats.org/officeDocument/2006/relationships/notesMaster" Target="/ppt/notesMasters/notesMaster1.xml" Id="R1bcac0de57164c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6d5d6e05b84446" /><Relationship Type="http://schemas.openxmlformats.org/officeDocument/2006/relationships/notesMaster" Target="/ppt/notesMasters/notesMaster1.xml" Id="Rdeaadf0be0d345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acb16dc5884fe6" /><Relationship Type="http://schemas.openxmlformats.org/officeDocument/2006/relationships/notesMaster" Target="/ppt/notesMasters/notesMaster1.xml" Id="Rc210f976063142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4acc662abd41a2" /><Relationship Type="http://schemas.openxmlformats.org/officeDocument/2006/relationships/notesMaster" Target="/ppt/notesMasters/notesMaster1.xml" Id="R9bbfc7bcf55241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2ea55431674cfe" /><Relationship Type="http://schemas.openxmlformats.org/officeDocument/2006/relationships/notesMaster" Target="/ppt/notesMasters/notesMaster1.xml" Id="R48be490e27e04f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bf92fb527b4299" /><Relationship Type="http://schemas.openxmlformats.org/officeDocument/2006/relationships/notesMaster" Target="/ppt/notesMasters/notesMaster1.xml" Id="Re2fe6a46e95146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4a0c60c7cd4c88" /><Relationship Type="http://schemas.openxmlformats.org/officeDocument/2006/relationships/notesMaster" Target="/ppt/notesMasters/notesMaster1.xml" Id="R3f7bce1d661c4f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Heading style reference: Industrial Training Presentation Template [Autosaved].pptx.</a:t>
            </a:r>
          </a:p>
          <a:p xmlns:a="http://schemas.openxmlformats.org/drawingml/2006/main">
            <a:r>
              <a:t>Project sources: README.md and client/server source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API and Agent Tools tables.</a:t>
            </a:r>
          </a:p>
          <a:p xmlns:a="http://schemas.openxmlformats.org/drawingml/2006/main">
            <a:r>
              <a:t>Counts are derived from the documented routes and tool exports.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server/rag/tools.js, server/rag/agent.js,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Stack section and package manifests.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architecture diagram and server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server/rag/vectorStore.js.</a:t>
            </a:r>
          </a:p>
          <a:p xmlns:a="http://schemas.openxmlformats.org/drawingml/2006/main">
            <a:r>
              <a:t>The implementation retrieves two times the target candidate count, applies RRF, then returns the top four reranked chunks.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server/rag/agent.js and server/rag/tools.js.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server/middleware/auth.js, rateLimit.js, auditLogger.js, and server/rag/agent.js.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API Endpoints, server/seed.js, server/models/Session.js, and server/routes.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local project on 2026-09-29.</a:t>
            </a:r>
          </a:p>
          <a:p xmlns:a="http://schemas.openxmlformats.org/drawingml/2006/main">
            <a:r>
              <a:t>Source: client/src/routes and client/src/styles.css.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command executed: npm test in server directory.</a:t>
            </a:r>
          </a:p>
          <a:p xmlns:a="http://schemas.openxmlformats.org/drawingml/2006/main">
            <a:r>
              <a:t>Result: 2 suites passed and 11 tests passed.</a:t>
            </a:r>
          </a:p>
          <a:p xmlns:a="http://schemas.openxmlformats.org/drawingml/2006/main">
            <a:r>
              <a:t>Other runners exist in server/package.json but were not executed because they require configured external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Known Limitations &amp; Design Tradeoffs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summary based on implemented features in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381526c714a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afcf86a909409d" /><Relationship Type="http://schemas.openxmlformats.org/officeDocument/2006/relationships/slideLayout" Target="/ppt/slideLayouts/slideLayout1.xml" Id="R1923ddde083740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23ddde083740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72160a70641df" /><Relationship Type="http://schemas.openxmlformats.org/officeDocument/2006/relationships/image" Target="/ppt/media/image.png" Id="R74ea0af102754402" /><Relationship Type="http://schemas.openxmlformats.org/officeDocument/2006/relationships/notesSlide" Target="/ppt/notesSlides/notesSlide1.xml" Id="R80e6eabfcf504f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e80046c504c8f" /><Relationship Type="http://schemas.openxmlformats.org/officeDocument/2006/relationships/notesSlide" Target="/ppt/notesSlides/notesSlide2.xml" Id="R95460818896e44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589e8c2cb45a1" /><Relationship Type="http://schemas.openxmlformats.org/officeDocument/2006/relationships/notesSlide" Target="/ppt/notesSlides/notesSlide3.xml" Id="Rb3cf311a802f48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f9a227c304285" /><Relationship Type="http://schemas.openxmlformats.org/officeDocument/2006/relationships/notesSlide" Target="/ppt/notesSlides/notesSlide4.xml" Id="R0913f7ac4c9d49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6b6837ac643f9" /><Relationship Type="http://schemas.openxmlformats.org/officeDocument/2006/relationships/notesSlide" Target="/ppt/notesSlides/notesSlide5.xml" Id="R9471a10ead6443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c2e4beda540b4" /><Relationship Type="http://schemas.openxmlformats.org/officeDocument/2006/relationships/notesSlide" Target="/ppt/notesSlides/notesSlide6.xml" Id="Rdc8b689066904c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ab11723a449ca" /><Relationship Type="http://schemas.openxmlformats.org/officeDocument/2006/relationships/notesSlide" Target="/ppt/notesSlides/notesSlide7.xml" Id="R697459d9a6664e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79fcf512e4978" /><Relationship Type="http://schemas.openxmlformats.org/officeDocument/2006/relationships/notesSlide" Target="/ppt/notesSlides/notesSlide8.xml" Id="Rc871282d3e2845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f5f55283649a4" /><Relationship Type="http://schemas.openxmlformats.org/officeDocument/2006/relationships/notesSlide" Target="/ppt/notesSlides/notesSlide9.xml" Id="R99a97db83d0d42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c5097e962486b" /><Relationship Type="http://schemas.openxmlformats.org/officeDocument/2006/relationships/image" Target="/ppt/media/image2.png" Id="Re09f1f0b430046b8" /><Relationship Type="http://schemas.openxmlformats.org/officeDocument/2006/relationships/image" Target="/ppt/media/image3.png" Id="R3e8eab805d264542" /><Relationship Type="http://schemas.openxmlformats.org/officeDocument/2006/relationships/notesSlide" Target="/ppt/notesSlides/notesSlide10.xml" Id="R4d7a44be868d44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a9d73f4424fe6" /><Relationship Type="http://schemas.openxmlformats.org/officeDocument/2006/relationships/notesSlide" Target="/ppt/notesSlides/notesSlide11.xml" Id="Ra39b63b2e6234a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01d50e4914ffb" /><Relationship Type="http://schemas.openxmlformats.org/officeDocument/2006/relationships/notesSlide" Target="/ppt/notesSlides/notesSlide12.xml" Id="R9df9132af3f74d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8e973ba5f440c" /><Relationship Type="http://schemas.openxmlformats.org/officeDocument/2006/relationships/notesSlide" Target="/ppt/notesSlides/notesSlide13.xml" Id="R31809dc12a6141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F96D7-8A3B-4421-BFBF-C4970BBC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Industrial Training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B713C-0997-466B-8A1C-B1870586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MERN + LANGCHAIN + GEMINI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93895-9D7E-4842-BF4B-CE29504E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4905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AI Customer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Support Chatbot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1DEE1-0270-4F6E-B52E-357CEFD8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4810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 RAG-powered support platform that answers policy questions, performs account actions, and hands complex cases to human agents.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a0af102754402"/>
          <a:srcRect xmlns:a="http://schemas.openxmlformats.org/drawingml/2006/main" l="19" t="0" r="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7875" y="1323975"/>
            <a:ext cx="5619750" cy="3162300"/>
          </a:xfrm>
          <a:prstGeom xmlns:a="http://schemas.openxmlformats.org/drawingml/2006/main" prst="roundRect">
            <a:avLst>
              <a:gd name="adj" fmla="val 542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22EE8-22AF-4F9E-9C67-7D4651A5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092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9FAF7-0862-497B-B1A7-6EB2CC8F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769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Project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C2C45-DC31-4DB7-921A-E9C8B5CD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876925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Source: working codebase and verified unit tests</a:t>
            </a:r>
          </a:p>
        </p:txBody>
      </p:sp>
    </p:spTree>
    <p:extLst>
      <p:ext uri="{BB962C8B-B14F-4D97-AF65-F5344CB8AC3E}">
        <p14:creationId xmlns:p14="http://schemas.microsoft.com/office/powerpoint/2010/main" val="1461804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1FAA2-2205-4C86-8A72-041A0763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B7335-1561-4949-BB7F-98B88186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06887-E0C0-45FC-9CB3-1A6168F7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A3483-EE43-4BC4-8179-EE0552B4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941A9-C93D-4E35-A26F-9BCCEE08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46DDB-0DD6-487D-A395-B5A473BE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7C1BB-2A16-4031-B59F-C63F573E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Support teams repeat the same policy answers while order actions and difficult conversations still require secure access to business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2DD06-3FA4-4726-A05A-475D9906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This project combines grounded answers with controlled tool use so one conversation can move from information to action and, when needed, to a human agent.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15815-0198-42E9-91E1-B75520E3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1411C-A192-4460-B915-F22AF7B1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purpose-built agent 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248FF-BBDB-48D6-B464-65327798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049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2BEDB-B9BF-46F7-9D82-5F071407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431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documented API endpoints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06F10-549E-4188-A4B3-DBC5E892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67075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5F8DA-2D32-4347-8830-B9C4BBF2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databases with distinct roles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BF4CC-7DC3-4C9A-A00E-07D8EA41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67075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31195-3AA3-4643-804D-F6417E01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05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live human handoff channel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DF260-70A6-4BC2-A9D6-07BCDC28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244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00E27-35EC-4862-8988-F247495E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Customer chat, knowledge ingestion, authentication, refunds, tickets, analytics, and audit trails.</a:t>
            </a:r>
          </a:p>
        </p:txBody>
      </p:sp>
    </p:spTree>
    <p:extLst>
      <p:ext uri="{BB962C8B-B14F-4D97-AF65-F5344CB8AC3E}">
        <p14:creationId xmlns:p14="http://schemas.microsoft.com/office/powerpoint/2010/main" val="5106550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7BCDD4-79F1-4F18-BF76-AD509635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Core Support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42D7A-B512-4EDE-BADC-047BC7C2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A7E5C-F15F-408C-9FE0-CDCC5911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C57E1-28D8-40F8-8D63-C52FA2D5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B4FCF-4BD0-473C-ACDF-1E28FE67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E217B-571B-4313-A250-A02D4B0A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334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One conversation supports both informational questions and account-specific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9248F-E1DE-425A-81B4-6C550F9F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2505075" cy="2990850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C401C-AD53-45AE-BA6E-350227DF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4BA92-6CFC-46C1-B824-11C5E62E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Policy 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0EBBF-A7F4-4C98-8AAB-28B8A578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2143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Hybrid retrieval returns the most relevant knowledge-base chunks.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7351B-4115-4194-AE5D-A9A20780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28825"/>
            <a:ext cx="2505075" cy="2990850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2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F7ED1-4F1E-4290-AAC2-1486A1E5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28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7D699-CCFF-4BFB-A8D5-3297E76D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432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Order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355E4-7D7F-4D57-BEC9-AD6931EF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57600"/>
            <a:ext cx="2143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The agent queries PostgreSQL for items, tracking, and status timestamps.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20C83-7E89-4B8C-BE20-BC4364A2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28825"/>
            <a:ext cx="2505075" cy="2990850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2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EDA36-4DB6-43C5-BE56-AEDF0B2F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A2992-207D-48EC-B05E-C2E887E4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432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Refund request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B7C32-DB66-4D61-82C2-5B8D20B9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2143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Eligibility comes first. The system creates a refund only after explicit confirmation.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72CB9-1176-406D-8406-EBD40CDF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28825"/>
            <a:ext cx="2505075" cy="2990850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2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8093AB-85E0-49DF-A5A4-28EA6C91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28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7E8"/>
          </a:solidFill>
          <a:ln xmlns:a="http://schemas.openxmlformats.org/drawingml/2006/main" w="0">
            <a:solidFill>
              <a:srgbClr val="7457E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3762D-B33B-42DE-9A2A-1F81ACB0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432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Human escalation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2DE7E-9C11-49D5-BDCD-AFA064D3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57600"/>
            <a:ext cx="2143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 high-priority ticket carries recent conversation context to the admin workspace.</a:t>
            </a:r>
          </a:p>
        </p:txBody>
      </p: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095625" y="35242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1C2"/>
            </a:solidFill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76925" y="35242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1C2"/>
            </a:solidFill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658225" y="35242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1C2"/>
            </a:solidFill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5313A8-F428-469A-84A4-91E37946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The same session ID links the chat, tool calls, and escalation context.</a:t>
            </a:r>
          </a:p>
        </p:txBody>
      </p:sp>
    </p:spTree>
    <p:extLst>
      <p:ext uri="{BB962C8B-B14F-4D97-AF65-F5344CB8AC3E}">
        <p14:creationId xmlns:p14="http://schemas.microsoft.com/office/powerpoint/2010/main" val="19936966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5B316B-7B40-4658-B27F-EA66B8AE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0705E-6029-474D-976A-90860588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715B2-915C-4BF0-9762-D40CACA3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F6A16-7CAA-4028-B58B-E14ED519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72A8F-F0E7-41C5-8F1B-2FBF4A4B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F62D7-2C68-4731-8995-0CD98026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81100"/>
            <a:ext cx="107156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F9F88-CD31-49BF-961C-20DDE2D6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81100"/>
            <a:ext cx="190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6CCEB-B993-4426-94EE-B19856BF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39065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3AABE-8214-4D8B-954C-AB5E806B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90650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React 19, Vite, Tailwind CSS, TanStack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85290-B466-4A42-85C8-FB7E1209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107156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8BC8C-742A-49D5-8D00-C0B38DF2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190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B7BD7-2E92-4108-852E-895BAD44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33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CD843-803E-4BC5-B1B6-A1501B2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Node.js, Express, Socket.io, LangChain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4E19C-53A5-4903-A8F4-E642E5A6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107156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82D60-EC55-4CD4-BC86-6E2F30A3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190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7E8"/>
          </a:solidFill>
          <a:ln xmlns:a="http://schemas.openxmlformats.org/drawingml/2006/main" w="0">
            <a:solidFill>
              <a:srgbClr val="7457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7FA02-80C1-45BC-8436-B9D3C63B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Intelligence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853BB-0264-4FAE-B273-9D1159F4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76600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Gemini chat model and 768-dimensional embeddings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23BDE-4C81-47C2-91AF-FEAB5D6C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0025"/>
            <a:ext cx="107156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45C07-BFE9-4D81-8230-9FB92B3B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0025"/>
            <a:ext cx="190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9EFE1-3203-4329-A9B8-A798918E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957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74571-354B-4812-9662-EC26A867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9575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PostgreSQL, MongoDB Atlas Vector Search, Cloudinary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4DAC2-4DA4-40C2-8B31-4FF0B312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7156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4D4681-7FD7-4178-B321-77166D2A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90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725BF9-CB61-4997-83D4-97812403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6255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Protection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A542A4-9700-4042-8346-2D4879A2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JWT, refresh tokens, Helmet, rate limiting, PII masking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C136EE-180C-48A0-BC9E-ADB2AB3C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91225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The stack separates interface, orchestration, retrieval, business data, and operational controls.</a:t>
            </a:r>
          </a:p>
        </p:txBody>
      </p:sp>
    </p:spTree>
    <p:extLst>
      <p:ext uri="{BB962C8B-B14F-4D97-AF65-F5344CB8AC3E}">
        <p14:creationId xmlns:p14="http://schemas.microsoft.com/office/powerpoint/2010/main" val="17776839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F44D23-2160-4EF6-ACB7-697F53AE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D38DD-8206-4EED-83A4-747BE7A9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19128-6704-442D-87FE-B8A8EB8F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11094-A993-42D3-8FFE-2094A97F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2789A-7C86-416F-A419-88809D61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812CE-B8EA-40D0-ACC3-59902BA7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C9D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CF74C-745A-4706-8789-27CF44A1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53352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6BD99-6C4B-4262-9CC3-BAE5CE75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94310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Chat UI</a:t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Admin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E88EF-3FF5-43B1-9BC8-819BADD2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23975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CFBF6"/>
          </a:solidFill>
          <a:ln xmlns:a="http://schemas.openxmlformats.org/drawingml/2006/main" w="14288">
            <a:solidFill>
              <a:srgbClr val="BDEB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F7EF3-8904-48C5-A03F-992C91EE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53352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API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CAB9F-8E29-44D3-855F-600C6803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94310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REST routes</a:t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Socket.io 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7FAD8-98B3-4010-99D7-674D891B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23975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EFFF"/>
          </a:solidFill>
          <a:ln xmlns:a="http://schemas.openxmlformats.org/drawingml/2006/main" w="14288">
            <a:solidFill>
              <a:srgbClr val="D7CE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4EFB9-D6E3-42F9-BC0D-F20E9CCE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3352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Agent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F2356-1507-4C47-A571-103D8617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4310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Gemini model</a:t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Tool 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96E4E-9C2B-43E6-9ACF-629181A6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323975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4288">
            <a:solidFill>
              <a:srgbClr val="FAD99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FCA77-9C79-4ED9-9188-9ECE13A2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33525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62E55-C3C7-4BEA-98DF-194F2F04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431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Answer or</a:t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handoff</a:t>
            </a:r>
          </a:p>
        </p:txBody>
      </p: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57500" y="189547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799"/>
            </a:solidFill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29300" y="189547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799"/>
            </a:solidFill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01100" y="189547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799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69BDBF-969E-4409-909C-FD5D66EF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CONNECTED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5E179F-D876-4C9F-89CF-BA8F237E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2505075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E06576-C799-46C0-90E8-9FBCBA74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25050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4CFDE8-ECED-4393-9A52-757BDCEB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94E540-29EC-4F47-B53F-368D0C7A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Users, orders, refunds, tickets</a:t>
            </a:r>
          </a:p>
        </p:txBody>
      </p:sp>
      <p:cxnSp>
        <p:nvCxnSpPr>
          <p:cNvPr id="67" name=""/>
          <p:cNvCxnSpPr>
            <a:stCxn xmlns:a="http://schemas.openxmlformats.org/drawingml/2006/main" id="1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1919288" y="2466975"/>
            <a:ext cx="5786438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B4BDCA"/>
            </a:solidFill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A63338-9871-4A04-BD99-E61A92EC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43300"/>
            <a:ext cx="2505075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52149C-DF83-4A7E-B288-73D27541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43300"/>
            <a:ext cx="25050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5F125E-8073-4187-9D99-8E4DA844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7667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MongoDB Atlas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7B07E-B530-4D26-AA8A-C0BD1884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35292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Sessions, document chunks, vectors</a:t>
            </a:r>
          </a:p>
        </p:txBody>
      </p:sp>
      <p:cxnSp>
        <p:nvCxnSpPr>
          <p:cNvPr id="72" name=""/>
          <p:cNvCxnSpPr>
            <a:stCxn xmlns:a="http://schemas.openxmlformats.org/drawingml/2006/main" id="12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4710113" y="2466975"/>
            <a:ext cx="2995613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B4BDCA"/>
            </a:solidFill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14E8A6-8F4F-4CD7-9FD9-A88F4016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2505075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7E2AAD-DCD2-46EF-9F27-E3CF5503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25050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E05E60-7C84-48A3-ACAD-5AAB8039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667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Cloudinary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4E055D-44EA-4143-9F20-F150312A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5292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Uploaded knowledge documents</a:t>
            </a:r>
          </a:p>
        </p:txBody>
      </p:sp>
      <p:cxnSp>
        <p:nvCxnSpPr>
          <p:cNvPr id="77" name=""/>
          <p:cNvCxnSpPr>
            <a:stCxn xmlns:a="http://schemas.openxmlformats.org/drawingml/2006/main" id="1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H="1">
            <a:off x="7500938" y="2466975"/>
            <a:ext cx="204788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B4BDCA"/>
            </a:solidFill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867DEA-9732-4DA0-B8DA-47AC2000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543300"/>
            <a:ext cx="2505075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2D6C41-4820-479E-A69D-DAACE9C2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543300"/>
            <a:ext cx="25050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8F1FDC-18FC-477E-B486-8053BBC1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87667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Audit log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AC2DFD-050E-481A-B500-9B499E09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35292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PII-masked tool events</a:t>
            </a:r>
          </a:p>
        </p:txBody>
      </p:sp>
      <p:cxnSp>
        <p:nvCxnSpPr>
          <p:cNvPr id="82" name=""/>
          <p:cNvCxnSpPr>
            <a:stCxn xmlns:a="http://schemas.openxmlformats.org/drawingml/2006/main" id="12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7705725" y="2466975"/>
            <a:ext cx="2586038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B4BDCA"/>
            </a:solidFill>
          </a:ln>
        </p:spPr>
      </p:cxnSp>
    </p:spTree>
    <p:extLst>
      <p:ext uri="{BB962C8B-B14F-4D97-AF65-F5344CB8AC3E}">
        <p14:creationId xmlns:p14="http://schemas.microsoft.com/office/powerpoint/2010/main" val="9185982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F63771-5A3D-4BB1-B918-5455B80D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Hybrid RAG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EC4C5-14C9-4C58-8E7B-C94D90B6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8AE59-1202-441D-8C1E-F38A0C22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D5A6F-D82B-4AE1-BAAE-370322AB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9D8DE-18EA-4513-8525-4D2293B7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5CAF4-9DED-48E3-87EA-65CA99DF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334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Semantic retrieval and exact-term matching run in parallel before rank fusion and reranking.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278BE-0D4B-468B-A545-DA4DB647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38375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C9D8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42635-45CE-4DF6-9F9B-F9270363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4317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User query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ADC61-1945-419F-9089-96C1E331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00200"/>
            <a:ext cx="2047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EFFF"/>
          </a:solidFill>
          <a:ln xmlns:a="http://schemas.openxmlformats.org/drawingml/2006/main" w="14288">
            <a:solidFill>
              <a:srgbClr val="D7CEF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6E41F-5C16-47F4-B3AE-CAE9753E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0975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Vector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B5953-35BA-47FE-BB5D-1E74B2F7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19325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Semantic similarity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EC12C-C0ED-445F-B991-FF717B11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2047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4288">
            <a:solidFill>
              <a:srgbClr val="FAD9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1C6E3-5B7C-4958-A9FD-B722B10D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35280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Keyword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66968-291E-421A-A3F9-F74A5501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762375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Exact terms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1F5A2-56B0-4DC1-8912-487F115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CFBF6"/>
          </a:solidFill>
          <a:ln xmlns:a="http://schemas.openxmlformats.org/drawingml/2006/main" w="14288">
            <a:solidFill>
              <a:srgbClr val="BDEB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E5424-91FA-4F08-9417-7FCBE7A2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574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RRF fusion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8882D-89A9-4277-8B6E-7CFE54AE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670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Merge ranked lists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7E873-ADD1-4185-8868-9FEA2922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38375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4288">
            <a:solidFill>
              <a:srgbClr val="F0C3C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AC37D2-26AF-468E-86C3-3DE4608B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0030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Term-overlap reranker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D9539E-F3D4-4F67-B2E8-D0933EF7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9908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Top 4 chunks</a:t>
            </a:r>
          </a:p>
        </p:txBody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200275" y="2133600"/>
            <a:ext cx="904875" cy="638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590A2"/>
            </a:solidFill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200275" y="2771775"/>
            <a:ext cx="904875" cy="904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590A2"/>
            </a:solidFill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153025" y="2133600"/>
            <a:ext cx="962025" cy="638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590A2"/>
            </a:solidFill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5153025" y="2771775"/>
            <a:ext cx="962025" cy="904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590A2"/>
            </a:solidFill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115300" y="27717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90A2"/>
            </a:solidFill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05D816-DB63-42B2-BF1A-3E8E27FE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Why hybrid retrieval matters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C095E7-CFBA-4B7C-AE75-EF5F2CF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29225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Vector search handles paraphrases. Keyword search protects exact matches such as order IDs, SKUs, and product names.</a:t>
            </a:r>
          </a:p>
        </p:txBody>
      </p:sp>
    </p:spTree>
    <p:extLst>
      <p:ext uri="{BB962C8B-B14F-4D97-AF65-F5344CB8AC3E}">
        <p14:creationId xmlns:p14="http://schemas.microsoft.com/office/powerpoint/2010/main" val="1893682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83119D-605D-4D61-9172-2A6A27A4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Agent Tools and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1F2E7-4314-4AA4-A4C9-8AEE4C32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DA2C5-98ED-4FA3-BAD7-13B1E862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FFE76-B05D-44BB-81C2-67D6D21F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B32FE-3487-433A-A6CC-58BAC306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0BBA4-24CC-4EAE-959F-3E77F1BA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89A33-6762-4B5C-A94B-20F2B772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14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89AEB-7BF0-4E1A-BECE-3F1F34B9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4478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B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2F6BFF"/>
                </a:solidFill>
                <a:latin typeface="Consolas"/>
                <a:ea typeface="Consolas"/>
                <a:cs typeface="Consolas"/>
              </a:rPr>
              <a:t>check_order_status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41F69-2E3D-49D4-93C1-86A13DB1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09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Reads order items, tracking, and lifecycle timestamps.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80280-ED38-4F6B-8726-69CFBFC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6F71E-1A6C-4EB0-AD93-F3AF67C9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114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9738D-A642-460C-80A3-8E90A532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812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initiate_refund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51FD3-7C93-4E6D-AA37-45991ADF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432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Checks eligibility, requests confirmation, then creates a refund.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C84D9-B278-4F0F-9578-A7C36996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52825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0BA6C-CE64-4369-9303-32BC5D80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52825"/>
            <a:ext cx="114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28DAA-BECA-4D93-BB10-4D868CFF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714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67E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0A67E"/>
                </a:solidFill>
                <a:latin typeface="Consolas"/>
                <a:ea typeface="Consolas"/>
                <a:cs typeface="Consolas"/>
              </a:rPr>
              <a:t>search_knowledge_base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47118-4854-49DD-B9BE-4B4D347A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767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Returns grounded context from hybrid retrieval.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521E2-CC6F-45A2-BC3D-4696554B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E8FF2-36DD-48C9-BBA1-000AD5DD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114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7E8"/>
          </a:solidFill>
          <a:ln xmlns:a="http://schemas.openxmlformats.org/drawingml/2006/main" w="0">
            <a:solidFill>
              <a:srgbClr val="7457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735B35-0C0F-49A7-9221-49B11222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482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57E8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7457E8"/>
                </a:solidFill>
                <a:latin typeface="Consolas"/>
                <a:ea typeface="Consolas"/>
                <a:cs typeface="Consolas"/>
              </a:rPr>
              <a:t>escalate_to_human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68578F-3AB7-4B07-A710-41DA28A4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101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Creates a ticket with recent conversation context.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5E514-51A2-4BD5-A179-BB01E8F6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2858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EXECUTION LOOP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F05706-3473-40B9-8992-875E5FE9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724025"/>
            <a:ext cx="4581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305EB4-DE39-41E4-8F09-EC60D5CE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2BB907-AE2C-421E-9528-8D1EEF2B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9547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Build system prompt and session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E750D6-8EEB-49DF-8BC7-AB4F8E61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38425"/>
            <a:ext cx="4581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8100C7-6644-4612-849F-3E2F9EFF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69DEB6-B446-475C-BD18-7DA8BF8E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987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Ask Gemini for a response or tool call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B5535F-947A-45AF-8C6D-9E258A67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552825"/>
            <a:ext cx="4581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937AFE-2DF3-40BC-9DE2-A5A579EA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4668BD-512F-4C0F-85B1-444CAC9A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2427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Execute the selected tool and audit the event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DEE9DF-0EB0-4F0A-8D8D-A2547F14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67225"/>
            <a:ext cx="4581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E6AAA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5E9B1B-AEB3-4D75-9BA9-23272779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629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682EA3-1260-4377-BE39-61D9972C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3867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Return the final answer within six tool rounds</a:t>
            </a:r>
          </a:p>
        </p:txBody>
      </p:sp>
      <p:cxnSp>
        <p:nvCxnSpPr>
          <p:cNvPr id="72" name=""/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777288" y="24669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AB3C1"/>
            </a:solidFill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26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777288" y="33813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AB3C1"/>
            </a:solidFill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29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8777288" y="42957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AB3C1"/>
            </a:solidFill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3194281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B7E4BE-D150-4814-A273-AC35B44E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Security and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08434-EBB4-407D-B048-48D03E1B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25E28-2543-4786-82F9-76F42853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CEA4C-9A8C-4568-93F0-969C33FB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1DFA7-D242-4E34-B991-696FDC1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9D063-84AC-477E-8CBD-E56D7F2C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343025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F067D-7C97-46AA-8F10-7A2121B1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66950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layers of operational protection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3F49C-D3FD-4AFB-8F97-ABBB0CD0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28975"/>
            <a:ext cx="2524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The controls protect access, limit abuse, constrain tool use, and reduce sensitive data exposure in logs.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89554-306F-4CF8-B859-9BEA8C08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238250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32F7E-BF9B-4F1F-9CB7-792B93EB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4001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368C0-C3C9-4FBC-B22E-D094EE30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8112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26364-0A1D-4E6C-960F-1E094FFD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7811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Short-lived JWT access tokens and refresh-token rotation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442BA-DE51-4C8E-9D3F-BFD941AA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76525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772BB-C350-4FEF-A7BC-E1625A82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8384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FE0E5-3758-421F-B030-38C27D2C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Authorization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22B67-38C6-4AD6-BF8D-A2C6FDDA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2194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Admin-only ingestion, analytics, and ticket routes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C67F5-28E0-43B8-A044-B43DF8DC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14800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2212A-17C0-48FA-AD90-A64E90C1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2767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71158C-4787-459C-B873-0CFA5B68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576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Rate limiting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90616-D285-4D89-B006-4386C812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6577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Separate limits for chat, authentication, and other endpoints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1E5BA-47BC-451D-ACA9-FB37FC19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238250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5EBF08-9EDC-4068-B092-7C58C191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001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DC48FB-B8EF-4059-AE19-3261BCE6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38112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Agent scope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0B3E64-3109-4064-AD5B-667B99D9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811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System prompt rules for domain limits and prompt-injection attempts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5B2661-A679-454B-8159-4AADB873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76525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C62A8-44A7-4DAC-A322-A3E60AA6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3B2898-AF46-4D11-BFF9-5D3C52D3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81940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Safe refunds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668309-A90A-4696-AAC3-AB94C730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194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Two-step confirmation plus duplicate-refund prevention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269EC8-F437-47C4-A58C-42E83818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114800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134CAE-1143-43CF-BD30-A9E94842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767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333437-CD62-4CA4-8517-225C6D68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2576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Audit privacy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82296A-3003-417E-905B-4E0E31B4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577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Email, phone, card, and address patterns masked before logging</a:t>
            </a:r>
          </a:p>
        </p:txBody>
      </p:sp>
    </p:spTree>
    <p:extLst>
      <p:ext uri="{BB962C8B-B14F-4D97-AF65-F5344CB8AC3E}">
        <p14:creationId xmlns:p14="http://schemas.microsoft.com/office/powerpoint/2010/main" val="2180060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301CAE-AED1-431D-B089-41A18255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Data and API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505B3-AF82-4836-B232-1BF646F8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EFBA3-9F65-4370-9ED3-56B84B44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66BE8-27DF-4B5C-820A-74FF8D5B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F4F2F-BAEB-43EF-999D-F3332E1B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15975-C889-439E-BEC2-4810AE8E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STORAGE RESPONSIBILITIES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98F7C-15BA-4564-A14B-DF5E418B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50482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ECFBF6"/>
          </a:solidFill>
          <a:ln xmlns:a="http://schemas.openxmlformats.org/drawingml/2006/main" w="14288">
            <a:solidFill>
              <a:srgbClr val="BDEB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678F1-8B91-47DA-B9F6-E4715355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478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74062-C1CC-4B02-8AFB-3420F9CE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954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Transactional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1EC26-E535-4C27-9A95-7BBFA1B3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52675"/>
            <a:ext cx="4286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Users and refresh tokens</a:t>
            </a:r>
          </a:p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Orders and order items</a:t>
            </a:r>
          </a:p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Refunds, tickets, and feedback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CF60D-6D8B-4D11-81BA-8EDF5409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50482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C9D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AC962-94FC-462A-B2DA-8E77033A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478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MongoDB Atlas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19B9B-3E5A-4BF2-970D-CA5AA24D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95475"/>
            <a:ext cx="2181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Conversation and retrieval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F8643-88CA-4673-8EE4-CAFD342B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352675"/>
            <a:ext cx="4286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Chat sessions and messages</a:t>
            </a:r>
          </a:p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Embedded document chunks</a:t>
            </a:r>
          </a:p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Vector and text-search indexes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82C17-0F99-4C8D-A1E1-98681327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API SURFACE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CAEF7-491B-4226-97DF-936AFAAB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25050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63753-6C07-43F0-86AC-206D5F7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148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4 routes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6C68B-287B-4A5F-BD80-F4EF464A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00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0D6B7-BF92-48A5-B266-AEBCB8AD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25050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B4A6B-73B0-455C-B3AD-A8CDBE97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148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3 routes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5C670E-3407-4238-BE9A-4F7ADA63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000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Chat and feedback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1272C6-82BA-469F-BF54-EF20B1F1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24350"/>
            <a:ext cx="25050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F6EA05-B045-41AF-B50E-A75D548E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148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3 routes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3B2ED-9D82-4C45-9767-082CBB51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00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Knowledge ingestion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55EB36-A206-4FF6-B149-999E1A02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24350"/>
            <a:ext cx="25050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1364FB-A034-4D72-BAD3-FC0D15FC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5148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4 routes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DBF607-ABB1-4F76-A034-D5AC992B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000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Analytics and tickets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49294-BC3A-4ABE-A585-BFB1F8DA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Cloudinary stores source documents while MongoDB stores extracted chunks and embeddings.</a:t>
            </a:r>
          </a:p>
        </p:txBody>
      </p:sp>
    </p:spTree>
    <p:extLst>
      <p:ext uri="{BB962C8B-B14F-4D97-AF65-F5344CB8AC3E}">
        <p14:creationId xmlns:p14="http://schemas.microsoft.com/office/powerpoint/2010/main" val="3832571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833EE-1267-4783-8F21-2D83C957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User and Admin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A1F41-ADB5-48AA-A9D5-B1E07131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862F3-4270-4916-BF9D-FA7B3E90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1B82A-375D-4F1B-9CFB-0148A8DC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24E92-008A-43DE-A6F2-F8C8C07D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2A019-8185-44BF-B8B9-C60718FD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8110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Landing and product positioning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f1f0b430046b8"/>
          <a:srcRect xmlns:a="http://schemas.openxmlformats.org/drawingml/2006/main" l="71" t="0" r="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1590675"/>
            <a:ext cx="5191125" cy="2924175"/>
          </a:xfrm>
          <a:prstGeom xmlns:a="http://schemas.openxmlformats.org/drawingml/2006/main" prst="roundRect">
            <a:avLst>
              <a:gd name="adj" fmla="val 390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8548D-F20D-4656-9211-0C1AAC9E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8110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Focused conversation workspace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eab805d264542"/>
          <a:srcRect xmlns:a="http://schemas.openxmlformats.org/drawingml/2006/main" l="71" t="0" r="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90675"/>
            <a:ext cx="5191125" cy="2924175"/>
          </a:xfrm>
          <a:prstGeom xmlns:a="http://schemas.openxmlformats.org/drawingml/2006/main" prst="roundRect">
            <a:avLst>
              <a:gd name="adj" fmla="val 390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3E9C9-EB39-4109-B39F-16524F00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86325"/>
            <a:ext cx="97917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39700" algn="l">
              <a:spcAft>
                <a:spcPts val="700"/>
              </a:spcAft>
              <a:buChar char="•"/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Responsive dark and light themes with accessible input controls</a:t>
            </a:r>
          </a:p>
          <a:p xmlns:a="http://schemas.openxmlformats.org/drawingml/2006/main">
            <a:pPr marL="254000" indent="-139700" algn="l">
              <a:spcAft>
                <a:spcPts val="700"/>
              </a:spcAft>
              <a:buChar char="•"/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Socket.io updates switch the conversation to a human agent</a:t>
            </a:r>
          </a:p>
          <a:p xmlns:a="http://schemas.openxmlformats.org/drawingml/2006/main">
            <a:pPr marL="254000" indent="-139700" algn="l">
              <a:spcAft>
                <a:spcPts val="700"/>
              </a:spcAft>
              <a:buChar char="•"/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Admin pages manage tickets, knowledge documents, and operational analytics</a:t>
            </a:r>
          </a:p>
        </p:txBody>
      </p:sp>
    </p:spTree>
    <p:extLst>
      <p:ext uri="{BB962C8B-B14F-4D97-AF65-F5344CB8AC3E}">
        <p14:creationId xmlns:p14="http://schemas.microsoft.com/office/powerpoint/2010/main" val="6117134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0714A-FE62-4405-84FB-34990497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Testing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93BE4-D13B-4E6E-8B87-D03FE7F4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0A5BC-447F-48C2-8CE6-F0130D08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74561-175C-42FF-B985-0ADBD7EC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F459E-056D-4644-8E61-DE688960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8E8A3-1217-417D-B86C-2D573EB2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23975"/>
            <a:ext cx="3457575" cy="3981450"/>
          </a:xfrm>
          <a:prstGeom xmlns:a="http://schemas.openxmlformats.org/drawingml/2006/main" prst="roundRect">
            <a:avLst>
              <a:gd name="adj" fmla="val 2204"/>
            </a:avLst>
          </a:prstGeom>
          <a:solidFill xmlns:a="http://schemas.openxmlformats.org/drawingml/2006/main">
            <a:srgbClr val="ECFBF6"/>
          </a:solidFill>
          <a:ln xmlns:a="http://schemas.openxmlformats.org/drawingml/2006/main" w="14288">
            <a:solidFill>
              <a:srgbClr val="BDEB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F620E-D25C-4682-9B0C-B7BF0D81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819FE-2D7D-41A1-A37D-859C91C4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285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unit tests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5DC81-4E9C-4FB1-89BA-932F2C88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527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2 suites verified on 29 September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E4E3A-78BE-4684-94C0-F2DFA1BC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290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Coverage includes the agent loop, order lookup, refund checks, duplicate prevention, escalation, and error handling.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29D8E-1A2E-4BFA-BB38-B8182853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23975"/>
            <a:ext cx="6905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43CA6-78F3-401C-A76B-BD0A5458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562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89517-28BE-4CF8-BCCB-B320689D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5811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217B1-9B18-45DA-A005-FCC2574A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485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Unit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A272B-C1D6-426C-BCB0-B5EF9B29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144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Verified passing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86AE6-BA6D-46E9-84AA-AE0AD173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90775"/>
            <a:ext cx="6905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3C117-D3AB-4E75-B351-E5A1F1BB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628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9CFAA-A734-4C83-845F-568B161A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6479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5BBD91-CFEB-4461-8D0B-3E9F9710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552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Integration runner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20017-463C-476A-8B67-9C19671E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812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Available, requires live databases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017D1E-DBD3-4A7E-9643-DB8253C7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57575"/>
            <a:ext cx="6905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81AB29-2E4A-4318-9F02-6713746C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695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7E8"/>
          </a:solidFill>
          <a:ln xmlns:a="http://schemas.openxmlformats.org/drawingml/2006/main" w="0">
            <a:solidFill>
              <a:srgbClr val="7457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A0C909-C76D-4F12-A9B7-7E4E36DA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714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7B576-E093-4369-9FB9-528713BC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619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Prompt-injection runner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B33470-963A-4E50-AB3F-55C37B74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Available, requires configured services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CD1966-6A61-4EDB-806D-97557C28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24375"/>
            <a:ext cx="6905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959512-AF77-429D-8453-50E71D25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762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5D1877-84CA-4EE7-97E6-750B4425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7815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1073FA-5E4C-4440-B052-C8187C9C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686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RAG evaluation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1016E6-BDB5-46A0-B7F7-265C0ACA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30-query recall and precision script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C403D4-06D2-41AB-9011-A84BB775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781675"/>
            <a:ext cx="6905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The deck reports only the unit suite as executed and passing.</a:t>
            </a:r>
          </a:p>
        </p:txBody>
      </p:sp>
    </p:spTree>
    <p:extLst>
      <p:ext uri="{BB962C8B-B14F-4D97-AF65-F5344CB8AC3E}">
        <p14:creationId xmlns:p14="http://schemas.microsoft.com/office/powerpoint/2010/main" val="12009420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FDD68-2DCE-4524-B354-8C95AAD8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Limitations and 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599AE-C051-4C97-B56F-2974BFF3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97869-A008-48B2-9A0C-EEC80B82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CDCF4-C68A-4E9E-8612-C60934A8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DE21B-B4FD-4B44-9923-7FA9C0C2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DA77F-0F3A-4342-A7BB-48588CF5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CURRENT TRADEOFFS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19BB0-AC67-485E-9E3F-A60F1597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096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RECOMMENDED NEXT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0CAAF-B4DB-4865-BE33-2B19764B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49530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Agent memory lives in one server process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Chat responses return only after the full tool loop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Reranking uses exact term overlap instead of a learned model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Knowledge ingestion currently accepts PDF files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Rate limits reset when the server restarts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Refund confirmation still depends on model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83602-5BC2-458E-88EB-8C765CA0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95450"/>
            <a:ext cx="49530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Move session memory and rate counters to Redis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Stream partial responses through SSE or WebSockets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Add a cross-encoder reranker and retrieval telemetry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Support DOCX, TXT, JSON, and CSV ingestion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Add a deterministic approval gate for refunds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Summarize long conversations before the context limit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363F3-F33C-45DD-88BA-6DD1E594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00700"/>
            <a:ext cx="106965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AD99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193C1-5168-48F9-822A-3D43B870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24525"/>
            <a:ext cx="10315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Priority: make state and policy enforcement deterministic before scaling traffic.</a:t>
            </a:r>
          </a:p>
        </p:txBody>
      </p:sp>
    </p:spTree>
    <p:extLst>
      <p:ext uri="{BB962C8B-B14F-4D97-AF65-F5344CB8AC3E}">
        <p14:creationId xmlns:p14="http://schemas.microsoft.com/office/powerpoint/2010/main" val="17460772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3E50BC-0A91-4D2C-A80B-DAFB84A5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Project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A4B06-16B4-4AB3-BE14-611864BD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1AA23-B521-4D30-B379-D1186201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8B88C-D9B8-4251-849F-02DAC4E2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4F49E-923F-467B-9821-1714A5EC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D5D87-FCA6-4272-8D0D-85CD75F4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400175"/>
            <a:ext cx="10267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 working support system that connects grounded answers to real customer-service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7970F-D452-45E4-9DCB-13CDA733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38475"/>
            <a:ext cx="25050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44C19-D766-41E0-9BA5-F94F07F3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38475"/>
            <a:ext cx="25050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34CB6-2ACD-4E3B-B167-FD810118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Grounded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FB93A-242C-47B3-91BD-A5980CBE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Hybrid RAG searches store-specific knowledge.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E2F68-FF25-40CB-8E07-3270330D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38475"/>
            <a:ext cx="25050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86CE8-B1CF-4025-9AD3-09035B0F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38475"/>
            <a:ext cx="25050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3E7D5-3C72-4586-8756-9DAB4F30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Actionable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B2DF5-5447-42B3-8584-B768F378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Tools query orders and create refund records.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4C39B-F72A-433D-BB3F-F942615D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25050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3D967-C30E-4259-857A-4A246920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25050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7E8"/>
          </a:solidFill>
          <a:ln xmlns:a="http://schemas.openxmlformats.org/drawingml/2006/main" w="0">
            <a:solidFill>
              <a:srgbClr val="7457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69D22-645F-4F08-86B8-4FA53E9E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2B405-6E28-48F6-A38A-ECA4B32C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Complex cases carry context into human support.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26E3E-C9D0-47B8-BB1C-A396BE72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38475"/>
            <a:ext cx="25050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874249-EA27-4BF2-B3C0-78FB5A54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38475"/>
            <a:ext cx="25050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549B9-2CB9-4576-A5E7-4A8CFE0A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718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Observable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EE06E-6F43-4D5D-BBBC-456E4092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862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Tests, analytics, feedback, and audit logs expose behavior.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8EC47B-A5E7-483E-9595-ED09FDCA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81625"/>
            <a:ext cx="10267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27358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2026-09-29T07:09:44.6430000Z</dcterms:created>
  <dcterms:modified xsi:type="dcterms:W3CDTF">2026-09-29T07:09:44.6430000Z</dcterms:modified>
</coreProperties>
</file>