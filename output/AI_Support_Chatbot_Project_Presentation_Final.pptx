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00da7997c34658" /><Relationship Type="http://schemas.openxmlformats.org/officeDocument/2006/relationships/extended-properties" Target="/docProps/app.xml" Id="Rab945e658dc24c1c" /><Relationship Type="http://schemas.openxmlformats.org/officeDocument/2006/relationships/officeDocument" Target="/ppt/presentation.xml" Id="R6959d112ba93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47e5ffacc4d14"/>
  </p:sldMasterIdLst>
  <p:notesMasterIdLst>
    <p:notesMasterId xmlns:r="http://schemas.openxmlformats.org/officeDocument/2006/relationships" r:id="R0113e354871944ab"/>
  </p:notesMasterIdLst>
  <p:sldIdLst>
    <p:sldId xmlns:r="http://schemas.openxmlformats.org/officeDocument/2006/relationships" id="256" r:id="Ra33bf8226bf14b0d"/>
    <p:sldId xmlns:r="http://schemas.openxmlformats.org/officeDocument/2006/relationships" id="257" r:id="Re59c1cf9821f48c2"/>
    <p:sldId xmlns:r="http://schemas.openxmlformats.org/officeDocument/2006/relationships" id="258" r:id="R90256d28999442eb"/>
    <p:sldId xmlns:r="http://schemas.openxmlformats.org/officeDocument/2006/relationships" id="259" r:id="R03156afbccc24870"/>
    <p:sldId xmlns:r="http://schemas.openxmlformats.org/officeDocument/2006/relationships" id="260" r:id="R852d3940faab4654"/>
    <p:sldId xmlns:r="http://schemas.openxmlformats.org/officeDocument/2006/relationships" id="261" r:id="R3847dcbd37e84daa"/>
    <p:sldId xmlns:r="http://schemas.openxmlformats.org/officeDocument/2006/relationships" id="262" r:id="Rb2177e36ccaf43ce"/>
    <p:sldId xmlns:r="http://schemas.openxmlformats.org/officeDocument/2006/relationships" id="263" r:id="Re26fa4325b324e97"/>
    <p:sldId xmlns:r="http://schemas.openxmlformats.org/officeDocument/2006/relationships" id="264" r:id="R3d70b1bbf1624e9c"/>
    <p:sldId xmlns:r="http://schemas.openxmlformats.org/officeDocument/2006/relationships" id="265" r:id="R3e734ca37d8e4016"/>
    <p:sldId xmlns:r="http://schemas.openxmlformats.org/officeDocument/2006/relationships" id="266" r:id="R43f3bbc2e4494ea6"/>
    <p:sldId xmlns:r="http://schemas.openxmlformats.org/officeDocument/2006/relationships" id="267" r:id="R89c8568879d44485"/>
    <p:sldId xmlns:r="http://schemas.openxmlformats.org/officeDocument/2006/relationships" id="268" r:id="R4f816540d54449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fd02cdf3c4fac" /><Relationship Type="http://schemas.openxmlformats.org/officeDocument/2006/relationships/slideMaster" Target="/ppt/slideMasters/slideMaster1.xml" Id="Rdc047e5ffacc4d14" /><Relationship Type="http://schemas.openxmlformats.org/officeDocument/2006/relationships/notesMaster" Target="/ppt/notesMasters/notesMaster1.xml" Id="R0113e354871944ab" /><Relationship Type="http://schemas.openxmlformats.org/officeDocument/2006/relationships/presProps" Target="/ppt/presProps.xml" Id="Rf5cdfeb7db804404" /><Relationship Type="http://schemas.openxmlformats.org/officeDocument/2006/relationships/tableStyles" Target="/ppt/tableStyles.xml" Id="Rb2be402618b949c1" /><Relationship Type="http://schemas.openxmlformats.org/officeDocument/2006/relationships/slide" Target="/ppt/slides/slide1.xml" Id="Ra33bf8226bf14b0d" /><Relationship Type="http://schemas.openxmlformats.org/officeDocument/2006/relationships/slide" Target="/ppt/slides/slide2.xml" Id="Re59c1cf9821f48c2" /><Relationship Type="http://schemas.openxmlformats.org/officeDocument/2006/relationships/slide" Target="/ppt/slides/slide3.xml" Id="R90256d28999442eb" /><Relationship Type="http://schemas.openxmlformats.org/officeDocument/2006/relationships/slide" Target="/ppt/slides/slide4.xml" Id="R03156afbccc24870" /><Relationship Type="http://schemas.openxmlformats.org/officeDocument/2006/relationships/slide" Target="/ppt/slides/slide5.xml" Id="R852d3940faab4654" /><Relationship Type="http://schemas.openxmlformats.org/officeDocument/2006/relationships/slide" Target="/ppt/slides/slide6.xml" Id="R3847dcbd37e84daa" /><Relationship Type="http://schemas.openxmlformats.org/officeDocument/2006/relationships/slide" Target="/ppt/slides/slide7.xml" Id="Rb2177e36ccaf43ce" /><Relationship Type="http://schemas.openxmlformats.org/officeDocument/2006/relationships/slide" Target="/ppt/slides/slide8.xml" Id="Re26fa4325b324e97" /><Relationship Type="http://schemas.openxmlformats.org/officeDocument/2006/relationships/slide" Target="/ppt/slides/slide9.xml" Id="R3d70b1bbf1624e9c" /><Relationship Type="http://schemas.openxmlformats.org/officeDocument/2006/relationships/slide" Target="/ppt/slides/slide10.xml" Id="R3e734ca37d8e4016" /><Relationship Type="http://schemas.openxmlformats.org/officeDocument/2006/relationships/slide" Target="/ppt/slides/slide11.xml" Id="R43f3bbc2e4494ea6" /><Relationship Type="http://schemas.openxmlformats.org/officeDocument/2006/relationships/slide" Target="/ppt/slides/slide12.xml" Id="R89c8568879d44485" /><Relationship Type="http://schemas.openxmlformats.org/officeDocument/2006/relationships/slide" Target="/ppt/slides/slide13.xml" Id="R4f816540d544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3e9ccc2b5a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788245d5240d2" /><Relationship Type="http://schemas.openxmlformats.org/officeDocument/2006/relationships/notesMaster" Target="/ppt/notesMasters/notesMaster1.xml" Id="Rcf082c346367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2f548150944504" /><Relationship Type="http://schemas.openxmlformats.org/officeDocument/2006/relationships/notesMaster" Target="/ppt/notesMasters/notesMaster1.xml" Id="R7f10b297bb8e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eda36310734f99" /><Relationship Type="http://schemas.openxmlformats.org/officeDocument/2006/relationships/notesMaster" Target="/ppt/notesMasters/notesMaster1.xml" Id="Ra6c402a1625a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879418752a44eb" /><Relationship Type="http://schemas.openxmlformats.org/officeDocument/2006/relationships/notesMaster" Target="/ppt/notesMasters/notesMaster1.xml" Id="R47fb04f30dbe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749032c924b63" /><Relationship Type="http://schemas.openxmlformats.org/officeDocument/2006/relationships/notesMaster" Target="/ppt/notesMasters/notesMaster1.xml" Id="Re2ac839c6ca24e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529920225a4ebf" /><Relationship Type="http://schemas.openxmlformats.org/officeDocument/2006/relationships/notesMaster" Target="/ppt/notesMasters/notesMaster1.xml" Id="Rfbd06fadaa30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cde9f38814492b" /><Relationship Type="http://schemas.openxmlformats.org/officeDocument/2006/relationships/notesMaster" Target="/ppt/notesMasters/notesMaster1.xml" Id="R053bd7505fff45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c2541744eb4dff" /><Relationship Type="http://schemas.openxmlformats.org/officeDocument/2006/relationships/notesMaster" Target="/ppt/notesMasters/notesMaster1.xml" Id="Ra3e336022fff4b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e17fbe9bc74557" /><Relationship Type="http://schemas.openxmlformats.org/officeDocument/2006/relationships/notesMaster" Target="/ppt/notesMasters/notesMaster1.xml" Id="R748c468e359647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8706ff22684a7c" /><Relationship Type="http://schemas.openxmlformats.org/officeDocument/2006/relationships/notesMaster" Target="/ppt/notesMasters/notesMaster1.xml" Id="R2aad0e8e65544e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89097d02d44b12" /><Relationship Type="http://schemas.openxmlformats.org/officeDocument/2006/relationships/notesMaster" Target="/ppt/notesMasters/notesMaster1.xml" Id="R5694e65985d342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c0ede5d86f4bf6" /><Relationship Type="http://schemas.openxmlformats.org/officeDocument/2006/relationships/notesMaster" Target="/ppt/notesMasters/notesMaster1.xml" Id="R464b4af337e14b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e8cbddf9c44eb9" /><Relationship Type="http://schemas.openxmlformats.org/officeDocument/2006/relationships/notesMaster" Target="/ppt/notesMasters/notesMaster1.xml" Id="Rca9c500b4844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Heading style reference: Industrial Training Presentation Template [Autosaved].pptx.</a:t>
            </a:r>
          </a:p>
          <a:p xmlns:a="http://schemas.openxmlformats.org/drawingml/2006/main">
            <a:r>
              <a:t>Project sources: README.md and client/server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and Agent Tools tables.</a:t>
            </a:r>
          </a:p>
          <a:p xmlns:a="http://schemas.openxmlformats.org/drawingml/2006/main">
            <a:r>
              <a:t>Counts are derived from the documented routes and tool exports.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server/rag/tools.js, server/rag/agent.js,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Stack section and package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architecture diagram and server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server/rag/vectorStore.js.</a:t>
            </a:r>
          </a:p>
          <a:p xmlns:a="http://schemas.openxmlformats.org/drawingml/2006/main">
            <a:r>
              <a:t>The implementation retrieves two times the target candidate count, applies RRF, then returns the top four reranked chunks.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server/rag/agent.js and server/rag/tools.js.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server/middleware/auth.js, rateLimit.js, auditLogger.js, and server/rag/agent.js.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Endpoints, server/seed.js, server/models/Session.js, and server/routes.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local project on 2026-09-29.</a:t>
            </a:r>
          </a:p>
          <a:p xmlns:a="http://schemas.openxmlformats.org/drawingml/2006/main">
            <a:r>
              <a:t>Source: client/src/routes and client/src/styles.css.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command executed: npm test in server directory.</a:t>
            </a:r>
          </a:p>
          <a:p xmlns:a="http://schemas.openxmlformats.org/drawingml/2006/main">
            <a:r>
              <a:t>Result: 2 suites passed and 11 tests passed.</a:t>
            </a:r>
          </a:p>
          <a:p xmlns:a="http://schemas.openxmlformats.org/drawingml/2006/main">
            <a:r>
              <a:t>Other runners exist in server/package.json but were not executed because they require configured external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Known Limitations &amp; Design Tradeoffs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 based on implemented features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ce6649751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5e078bc0846f6" /><Relationship Type="http://schemas.openxmlformats.org/officeDocument/2006/relationships/slideLayout" Target="/ppt/slideLayouts/slideLayout1.xml" Id="R0b345aa0a876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345aa0a876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55b38ff5c444a" /><Relationship Type="http://schemas.openxmlformats.org/officeDocument/2006/relationships/image" Target="/ppt/media/image.png" Id="R5037e973e7484115" /><Relationship Type="http://schemas.openxmlformats.org/officeDocument/2006/relationships/notesSlide" Target="/ppt/notesSlides/notesSlide1.xml" Id="Rdb425275c98c4f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f0c4b87264bd4" /><Relationship Type="http://schemas.openxmlformats.org/officeDocument/2006/relationships/notesSlide" Target="/ppt/notesSlides/notesSlide2.xml" Id="R0c219c1b8a2841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47cf1b6444d4f" /><Relationship Type="http://schemas.openxmlformats.org/officeDocument/2006/relationships/notesSlide" Target="/ppt/notesSlides/notesSlide3.xml" Id="R4d6bc9c6c40a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ee9d8afd84afe" /><Relationship Type="http://schemas.openxmlformats.org/officeDocument/2006/relationships/notesSlide" Target="/ppt/notesSlides/notesSlide4.xml" Id="R42d2e9cf78bc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31c2b0554c1b" /><Relationship Type="http://schemas.openxmlformats.org/officeDocument/2006/relationships/notesSlide" Target="/ppt/notesSlides/notesSlide5.xml" Id="Re5dc448af9c24f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1e359512341c5" /><Relationship Type="http://schemas.openxmlformats.org/officeDocument/2006/relationships/notesSlide" Target="/ppt/notesSlides/notesSlide6.xml" Id="Rdbe5b4fc691d48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b0f202d7343df" /><Relationship Type="http://schemas.openxmlformats.org/officeDocument/2006/relationships/notesSlide" Target="/ppt/notesSlides/notesSlide7.xml" Id="R9c8468598fb440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ece05d294bb3" /><Relationship Type="http://schemas.openxmlformats.org/officeDocument/2006/relationships/notesSlide" Target="/ppt/notesSlides/notesSlide8.xml" Id="Rbcc4d24e4b4e44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8578b868b42f3" /><Relationship Type="http://schemas.openxmlformats.org/officeDocument/2006/relationships/notesSlide" Target="/ppt/notesSlides/notesSlide9.xml" Id="R7eb2aea3e67647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3a9f29bb44c58" /><Relationship Type="http://schemas.openxmlformats.org/officeDocument/2006/relationships/image" Target="/ppt/media/image2.png" Id="R933633d28f124af9" /><Relationship Type="http://schemas.openxmlformats.org/officeDocument/2006/relationships/image" Target="/ppt/media/image3.png" Id="R03e32abd5d8e4a2f" /><Relationship Type="http://schemas.openxmlformats.org/officeDocument/2006/relationships/notesSlide" Target="/ppt/notesSlides/notesSlide10.xml" Id="Rf859d9c1569846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030ff567d499b" /><Relationship Type="http://schemas.openxmlformats.org/officeDocument/2006/relationships/notesSlide" Target="/ppt/notesSlides/notesSlide11.xml" Id="Rdf16097378f84f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f0139a0684576" /><Relationship Type="http://schemas.openxmlformats.org/officeDocument/2006/relationships/notesSlide" Target="/ppt/notesSlides/notesSlide12.xml" Id="R205cf4b64d504d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62d847b7a4e6b" /><Relationship Type="http://schemas.openxmlformats.org/officeDocument/2006/relationships/notesSlide" Target="/ppt/notesSlides/notesSlide13.xml" Id="Rb6427985bf7d4d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46CA2-2043-4619-B350-47E3DC8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Industrial Training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1C4AE-C4E8-4F93-A437-1E165618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MERN + LANGCHAIN + GEMINI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BE89C-29CD-4CDA-B51F-177A94A8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AI Customer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608C3-602C-4173-9FD5-5EB52192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810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RAG-powered support platform that answers policy questions, performs account actions, and hands complex cases to human agents.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7e973e7484115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323975"/>
            <a:ext cx="5619750" cy="3162300"/>
          </a:xfrm>
          <a:prstGeom xmlns:a="http://schemas.openxmlformats.org/drawingml/2006/main" prst="roundRect">
            <a:avLst>
              <a:gd name="adj" fmla="val 54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2092A-91E6-43F2-AB61-4601861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58948-EFDC-4DD3-8569-404AE1D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0A02A-8B47-402B-8BF6-674CC9D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769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Source: working codebase and verified unit tests</a:t>
            </a:r>
          </a:p>
        </p:txBody>
      </p:sp>
    </p:spTree>
    <p:extLst>
      <p:ext uri="{BB962C8B-B14F-4D97-AF65-F5344CB8AC3E}">
        <p14:creationId xmlns:p14="http://schemas.microsoft.com/office/powerpoint/2010/main" val="329043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C327B-C1E3-41C3-B993-2BB3533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3E3F-4688-4E45-A311-5EDBDA9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F104B-C34E-4E09-B35E-BE4F7003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0C51D-D280-4695-B221-FE6655D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15E0-5318-4D34-A64D-6D15B922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FADAC-7384-47B9-A00F-A7225C4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C4AA0-B9C9-4FF7-89E1-B3F8A9FC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teams repeat the same policy answers while order actions and difficult conversations still require secure access to business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B2E49-4B73-41D3-9F4E-75F095A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This project combines grounded answers with controlled tool use so one conversation can move from information to action and, when needed, to a human agent.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7A58F-78BA-403D-95D9-00B736F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2370D-ADE9-47E4-8D35-CAFA0F8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purpose-built agent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870BB-B47E-40D0-AAF3-883B0E1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5B01D-0A33-4821-B0BB-891E7E4F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documented API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12CF2-72DC-4D2C-B86F-D4CBFF8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7994D-A768-4F04-9461-47BD1D3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databases with distinct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ADA6B-AAFD-4772-B2F3-D53A6DFA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6F3A4-2202-41E8-BCB0-C2592EA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live human handoff channel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44BF4-7BFB-4992-91B1-B862D91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24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1662F-AFDF-4B5D-8B56-133E98B1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Customer chat, knowledge ingestion, authentication, refunds, tickets, analytics, and audit trails.</a:t>
            </a:r>
          </a:p>
        </p:txBody>
      </p:sp>
    </p:spTree>
    <p:extLst>
      <p:ext uri="{BB962C8B-B14F-4D97-AF65-F5344CB8AC3E}">
        <p14:creationId xmlns:p14="http://schemas.microsoft.com/office/powerpoint/2010/main" val="4989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B381C-4D9B-438C-BCBA-A216748A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Core Support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7D80D-EF73-4E3F-9334-78C3C3C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945A6-4CA1-4651-9E9E-646F25C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0AA7C-6271-4F92-98CD-3909BAEC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0C644-504F-4B31-AE9B-5FEECFFA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F8D73-A06B-4417-B82E-2F7E9008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One conversation supports both informational questions and account-specific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2AC10-9B83-49A3-B86E-96B08C6E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A0FC3-8E65-47CD-B30A-3CBF352B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9D503-E1D7-4A78-8D27-8D1DECAD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Policy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259D1-4FF7-472A-8C48-43098E07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retrieval returns the most relevant knowledge-base chunks.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063B1-19E8-475B-924F-6B02B2A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6890-24D8-4F72-978F-23B8122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45EFB-8CE0-4AE1-8C28-0010C1D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40B03-DD7C-44C2-9A93-BD566C9B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agent queries PostgreSQL for items, tracking, and status timestamps.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DF1D3-7E99-4591-9762-AEB19E06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70AE0-7839-4467-A057-935A677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9520B-5B42-4B25-820D-2EC7E70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1CE4E-2F49-4A52-BF35-414225CA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Eligibility comes first. The system creates a refund only after explicit confirmation.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DF88-76F3-4D09-BB32-42380150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D931F-46B8-4E4B-80B8-E90A070C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9A72A-0FC5-430B-9DC0-B67F425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Human 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C78C2-2746-4E83-9108-59DCBB5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high-priority ticket carries recent conversation context to the admin workspace.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956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769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582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081C1-1837-4F9C-8B0B-CBD3A73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The same session ID links the chat, tool calls, and escalation context.</a:t>
            </a:r>
          </a:p>
        </p:txBody>
      </p:sp>
    </p:spTree>
    <p:extLst>
      <p:ext uri="{BB962C8B-B14F-4D97-AF65-F5344CB8AC3E}">
        <p14:creationId xmlns:p14="http://schemas.microsoft.com/office/powerpoint/2010/main" val="359279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AF6D5-5991-4FC9-844C-456C7E08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1428A-00FB-479C-BD8C-ADD0365D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2BA19-760F-4FAE-BF63-53A883F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971EA-8ABF-4A38-AB4B-3C7CF5CE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BC80A-FAB4-4C01-B01C-2B328E3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9B5A6-DF95-474E-B5F8-2403ABCC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867B3-C634-4989-9B62-21687C7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07CA8-D2A4-4BC9-B715-17280CC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906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30BC0-C983-4BBD-9B85-5996AF6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React 19, Vite, Tailwind CSS, TanStack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D309A-6753-49E4-ABB1-68D13F7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5A057-CE3E-4284-8F2F-647DCD7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9571A-0FE7-48AE-B0B6-3F840E54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3B76A-B633-487B-BA60-074B1CE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Node.js, Express, Socket.io, 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C9B15-DCEA-4F5C-A9AE-8A84BAC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61BD4-95D9-4D39-8943-70BC9E1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D6970-38F2-4AE4-8342-8A70A461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19FF2-20CA-4B74-92D1-D9914DF7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chat model and 768-dimensional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EE873-1C1C-4287-9143-7556437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9A47D-00A1-4929-AA5A-36E357F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4281C-E519-44FE-AFEC-76F54B1C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95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7AEB2-9888-4B1F-9813-870596E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PostgreSQL, MongoDB Atlas Vector Search, Cloudinary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DBFAF-94DB-476F-A2EC-31ED544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CC4F2-CD2F-4DEF-9D05-B1E96065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27311-6F2C-4B60-B177-7ABB0F5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521E6-3B9E-46F4-A743-55E45B80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JWT, refresh tokens, Helmet, rate limiting, PII masking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86F8D-8525-4A6F-8AAF-10A20ABA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912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stack separates interface, orchestration, retrieval, business data, and operational controls.</a:t>
            </a:r>
          </a:p>
        </p:txBody>
      </p:sp>
    </p:spTree>
    <p:extLst>
      <p:ext uri="{BB962C8B-B14F-4D97-AF65-F5344CB8AC3E}">
        <p14:creationId xmlns:p14="http://schemas.microsoft.com/office/powerpoint/2010/main" val="1248236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28AF53-30AD-4E39-A190-D9D1D3D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6B8D5-005C-47C8-AAC4-7E83AD3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61D6D-1AE7-4C8D-A08E-0E87009A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79A0A-CF18-41A9-A670-58D08383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EAAF2-1353-41D4-B680-46DA644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879B0-8963-4525-A798-194C53A2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20956-64AB-4200-B760-9E680DDD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9D87F-4B84-4F0D-B09E-8778496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UI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FCD7C-78A4-41B5-A667-5521B86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CC906-725F-4319-AB6F-4BDE0FD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57E54-F9B7-4601-81C3-DED7324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REST routes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87AF5-191F-4604-816C-FBEB05A0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B032B-E505-4AA2-981F-70AC92C6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B618D-27B8-4BF6-9D56-C0C7C52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model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Tool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FBA2E-4E54-4C56-8E64-8139388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239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8EA1-1C2D-4EDE-94FE-19187BD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33525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F1E60-1458-4454-B343-CA57541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Answer or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011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87EE0-B72B-4925-919F-1745C3E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CONNECTED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A5903-E52E-4A15-AAB6-E04D3E47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9B6F2-D9D2-4CDA-86E7-82D9EFC9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FF09F-0EC6-4006-A057-85E8BC5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41761-AEE7-472C-BC96-F4CBBBD3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Users, orders, refunds, tickets</a:t>
            </a:r>
          </a:p>
        </p:txBody>
      </p:sp>
      <p:cxnSp>
        <p:nvCxnSpPr>
          <p:cNvPr id="67" name=""/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919288" y="2466975"/>
            <a:ext cx="57864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D9BD4-E53C-4A1F-A34B-84979AF4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31D08-927C-473F-90A1-F1F5B31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2EBED-3E2A-4DD9-9785-88EC150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034CC-8DC6-49C4-BC19-E789C08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Sessions, document chunks, vectors</a:t>
            </a:r>
          </a:p>
        </p:txBody>
      </p:sp>
      <p:cxnSp>
        <p:nvCxnSpPr>
          <p:cNvPr id="72" name=""/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710113" y="2466975"/>
            <a:ext cx="299561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3CC24-21A3-4E77-B9FE-F04E138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AFDF2-F1E7-4FA8-A0A8-DB89EC28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DB9FED-77AA-4369-9012-41D3942D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Cloudinary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52259-9347-44D0-B825-814954B8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Uploaded knowledge documents</a:t>
            </a:r>
          </a:p>
        </p:txBody>
      </p:sp>
      <p:cxnSp>
        <p:nvCxnSpPr>
          <p:cNvPr id="77" name=""/>
          <p:cNvCxnSpPr>
            <a:stCxn xmlns:a="http://schemas.openxmlformats.org/drawingml/2006/main" id="1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7500938" y="2466975"/>
            <a:ext cx="20478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978EC-D1C8-4849-917B-4AB4E35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64A536-8961-4694-8F23-A67986F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0865C4-2D8A-417C-A6E3-8DB78D4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Audit 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819728-5F4F-4025-89B8-5D8EFA3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PII-masked tool events</a:t>
            </a:r>
          </a:p>
        </p:txBody>
      </p:sp>
      <p:cxnSp>
        <p:nvCxnSpPr>
          <p:cNvPr id="82" name=""/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05725" y="2466975"/>
            <a:ext cx="25860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</p:spTree>
    <p:extLst>
      <p:ext uri="{BB962C8B-B14F-4D97-AF65-F5344CB8AC3E}">
        <p14:creationId xmlns:p14="http://schemas.microsoft.com/office/powerpoint/2010/main" val="589566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09BAA-5EAC-470C-8C51-172AD24A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Hybrid RAG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740F5-5326-4D96-8172-7EAA03F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D294A-35D1-4B2D-8AEB-4331FF99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C1FB2-575E-44BA-B33D-787F7D4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CF6DF-57B9-4B14-A408-267920FB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E330-4248-4274-BC29-2949610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retrieval and exact-term matching run in parallel before rank fusion and reranking.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E63E1-E198-47F5-82CC-11591C7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F3993-CD8F-4D17-BCAD-7E512944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431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User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29861-CB33-41BA-BEF4-97A4752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D97B1-E639-47E9-A785-BFA3D3D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0975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Vector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C2F59-C726-4767-B1B4-5CCAE44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193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similarity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105CF-2A99-4C16-BA84-8D6260C2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B859C-08E9-4302-ADC2-3F86EDA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528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Keyword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D39B7-7DE3-407E-9CFD-121C011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6237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Exact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81326-2C2E-45CA-B267-F7503EB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1A38D-5B4E-44DC-8E72-B11DA24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RRF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1940B-DE92-4DC4-9201-CEFDB8C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Merge ranked 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EA387-0C95-40EF-ABEB-463D2DF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4288">
            <a:solidFill>
              <a:srgbClr val="F0C3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8E602-E85D-4EBB-B4E7-16DCEF33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003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Term-overlap reranker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0DBE5-1D30-40D0-A48F-2546C66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908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Top 4 chunks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200275" y="2133600"/>
            <a:ext cx="90487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00275" y="2771775"/>
            <a:ext cx="90487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153025" y="2133600"/>
            <a:ext cx="96202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153025" y="2771775"/>
            <a:ext cx="9620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15300" y="27717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C8FF1-3873-4F19-A6F3-EE86FFE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Why hybrid retrieval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5E4A2-2EE0-47A3-AF5A-0D754927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Vector search handles paraphrases. Keyword search protects exact matches such as order IDs, SKUs, and product names.</a:t>
            </a:r>
          </a:p>
        </p:txBody>
      </p:sp>
    </p:spTree>
    <p:extLst>
      <p:ext uri="{BB962C8B-B14F-4D97-AF65-F5344CB8AC3E}">
        <p14:creationId xmlns:p14="http://schemas.microsoft.com/office/powerpoint/2010/main" val="1365916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8B0D6D-C41A-431A-A75D-65BF842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Agent Tools 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77069-ABBE-491F-A13F-8DD457F8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5404-42A0-4F43-954A-4686F7DC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98E41-A51D-4B12-99A2-4E38450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18566-6AF0-4CF9-A472-9E9BC649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53642-F4FB-4991-9604-46E6F445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402A-3ED0-455E-9E44-1193F0C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913C8-BA3F-4B1B-9639-0C6A865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47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F6BFF"/>
                </a:solidFill>
                <a:latin typeface="Consolas"/>
                <a:ea typeface="Consolas"/>
                <a:cs typeface="Consolas"/>
              </a:rPr>
              <a:t>check_order_status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B8F95-390C-46EA-9EF2-BFBF6CCB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Reads order items, tracking, and lifecycle timestamps.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F97E1-BEC3-4D85-B994-9A3F5CC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E9F35-AC9E-4079-A1CB-E76C621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325F5-D801-41FD-ACB3-DBCAA270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81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initiate_refund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2ED85-BA98-4AD5-B91F-60C6F93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432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Checks eligibility, requests confirmation, then creates a refund.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3CA0B-8836-4411-83E4-C4BE4705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CB6FF-02BB-4F37-8F6D-DCB3861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E6C18-F743-46B4-B60D-7F15E175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7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A67E"/>
                </a:solidFill>
                <a:latin typeface="Consolas"/>
                <a:ea typeface="Consolas"/>
                <a:cs typeface="Consolas"/>
              </a:rPr>
              <a:t>search_knowledge_base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C9F9D-A3A2-4864-9894-E00C89B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76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Returns grounded context from hybrid retrieval.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3E07-93FB-479F-96D4-5816006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9B756-5D71-4ACA-9A91-403F5B5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158C9-44FF-4DCF-81B1-60815DB9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57E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7457E8"/>
                </a:solidFill>
                <a:latin typeface="Consolas"/>
                <a:ea typeface="Consolas"/>
                <a:cs typeface="Consolas"/>
              </a:rPr>
              <a:t>escalate_to_human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11FEC-A8F5-4025-8602-E887437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Creates a ticket with recent conversation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82FDD-4C42-4472-8817-71C71CF0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285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EXECUTION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8730D-5F63-4968-90E6-654E01F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240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F7EE9-1319-4180-A9BA-DB240EE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7E8D3-F423-4B31-8A91-D555B00D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5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Build system prompt and session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E025B-D93E-47D1-9FE0-6F6BC1F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384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2A64B-70F8-4343-BCCE-E150235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F706B-3A37-4B04-BB4B-DA1EB44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Ask Gemini for a response or tool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AFDA5-4D2C-46C6-A563-4E7A2995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528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C5C71-950F-42FE-8B59-DA231C8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A6A21-D6D6-4C60-B1A6-48C739C0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242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Execute the selected tool and audit the 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00A82-C44B-4508-8F86-B9CF71B6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672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E6AA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103646-E802-4971-A0E3-A427211C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143D03-6F18-4986-B274-1D27FEC3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386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Return the final answer within six tool rounds</a:t>
            </a:r>
          </a:p>
        </p:txBody>
      </p:sp>
      <p:cxnSp>
        <p:nvCxnSpPr>
          <p:cNvPr id="72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777288" y="24669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77288" y="33813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77288" y="42957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586699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BDD51F-62CB-42A5-AB39-61BF441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Security and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0CDB1-8611-4B3B-A1F7-F36B2E4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BA0AB-8313-4EBD-8BE4-2BFB73ED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C6EAA-715F-4DCE-893F-1F620CE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D4BD5-E519-4666-B984-23C2BB8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6CD36-F4BC-4EB0-982F-5470D51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430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78200-E49D-4624-8955-A8939A4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6950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layers of operational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9F07-6A94-446E-B27A-18CEDB68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28975"/>
            <a:ext cx="2524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controls protect access, limit abuse, constrain tool use, and reduce sensitive data exposure in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587AC-C843-40C6-A3F0-480339A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3B02A-94BD-4B5A-A831-FD96EC1B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0A502-B5FF-4EC0-BEB2-56C0F2C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26E39-F676-4B1A-A750-ED822F4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Short-lived JWT access tokens and refresh-token rotation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31FF8-0E31-4969-98AF-709268C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6C34D-2337-47F2-A826-847C4AA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6FAA2-4966-403B-B5BF-402CF65E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44FC1-9A6A-499C-9F73-ED08942D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Admin-only ingestion, analytics, and ticket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6472-4123-4364-B1F2-A24252F4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8CD96-F609-4B5C-8787-7E45529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452F9-7D97-48AA-AA6E-922B42DA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B3685-9049-4B5A-84BA-A1E97AF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Separate limits for chat, authentication, and other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611EA-DE20-4F45-A83A-D54F151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8CE5D-17EA-4ECA-8D72-A64C4F64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62157-A619-4233-9DCA-B7247FAE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DB535-7205-4AA3-93E8-CB1A38D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System prompt rules for domain limits and prompt-injection attempts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01899-B8E4-4EB5-858A-758BC630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D7904-6F71-430F-AED0-6B84A7A5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411F4-4C71-473D-A012-E865EA3B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Safe refunds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8888B-6830-4D69-B4BD-EC1868D8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Two-step confirmation plus duplicate-refund prevention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A1072-A523-4477-A819-6F723926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EA6999-F3E6-412C-AE5C-4556703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2062C-224F-451D-818D-4900D33A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Audit privacy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DD638-41E2-4C3E-8EFE-B0FC1332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Email, phone, card, and address patterns masked before logging</a:t>
            </a:r>
          </a:p>
        </p:txBody>
      </p:sp>
    </p:spTree>
    <p:extLst>
      <p:ext uri="{BB962C8B-B14F-4D97-AF65-F5344CB8AC3E}">
        <p14:creationId xmlns:p14="http://schemas.microsoft.com/office/powerpoint/2010/main" val="105362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940EE-A145-4DA4-B2D1-EA0B0A3C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and API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6E0EE-4490-42F6-87E9-C1BAB55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DD633-6520-44AA-997C-C4A4BF5B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FD367-908E-461A-A592-F54DFEF6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54545-8693-49C3-847E-8155D0F4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9E8B5-AAC4-4A04-B7D8-CCFCA16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STORAGE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123E2-4876-42DB-8F26-C59F753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6CD92-35AB-4E2B-B387-26BD373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80F3F-90F8-4A95-B81D-0EABBCD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95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Transactional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D5826-581E-43ED-82C9-012AD93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Users and refresh tokens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Orders and order items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Refunds, tickets, and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D0B40-F203-4A1F-86CB-34DF3F7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2211-A442-440D-B8DD-0331920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47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381F9-A85B-4413-A6E8-870080C9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Conversation and retrieval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C839B-641E-4198-B65D-C97DF61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sessions and messages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Embedded document chunks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Vector and text-search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1AC93-AAE8-4A1E-A91C-8F7956C1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API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1CD5B-B89E-44F0-B2E7-9DD1FFF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77A60-7781-472C-99EA-F47A3F1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926C2-973A-48A9-B0AC-4B27942D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E9F1A-5FFA-4E3A-BA0E-E7636888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41096-7276-48A2-8E95-634415D2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0626D-0989-4786-81C0-C9467182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and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F7C31-42F8-4226-831A-D94A51C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E5274-F668-4BD0-8F73-60C2F6D1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EE9D1-FFD1-4D8C-9269-A945E98B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F80AE-7C14-4B76-B884-6CF8135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63322-C97C-4FC5-8257-45514B8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D421D-B246-4D46-B6DD-B7B56BD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Analytics and tickets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DE93A-9A8F-48ED-A8B5-C64457D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Cloudinary stores source documents while MongoDB stores extracted chunks and embeddings.</a:t>
            </a:r>
          </a:p>
        </p:txBody>
      </p:sp>
    </p:spTree>
    <p:extLst>
      <p:ext uri="{BB962C8B-B14F-4D97-AF65-F5344CB8AC3E}">
        <p14:creationId xmlns:p14="http://schemas.microsoft.com/office/powerpoint/2010/main" val="1698259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F495F-F4AC-4A2F-83E2-B1954AA6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and Admin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84A3-3367-4BB0-BFAE-6B4E470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7F7C8-384B-4759-AB2A-CB41385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F979C-219B-483D-AF54-35EB153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EF4A7-3E86-485A-A1D2-75693525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65D9D-DCB0-40C6-93C4-1C05F8C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Landing and product positioning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633d28f124af9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F880-3654-42E9-9275-D0175707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Focused conversation workspace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32abd5d8e4a2f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41A67-FDC3-4AE6-842A-EAF180C5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79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Responsive dark and light themes with accessible input controls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updates switch the conversation to a human agent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pages manage tickets, knowledge documents, and operational analytics</a:t>
            </a:r>
          </a:p>
        </p:txBody>
      </p:sp>
    </p:spTree>
    <p:extLst>
      <p:ext uri="{BB962C8B-B14F-4D97-AF65-F5344CB8AC3E}">
        <p14:creationId xmlns:p14="http://schemas.microsoft.com/office/powerpoint/2010/main" val="2036861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DD32D-6845-4031-B0B3-25247CB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Testing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E8904-8DA7-4077-956B-BAE0720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895B4-9F86-4202-82DA-F372A494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B04C2-2B92-4209-9BBE-E7DC6803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2A634-E41F-4CC2-9391-04961C0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EAA6-0EF4-4E3D-B677-A5D9D82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23975"/>
            <a:ext cx="3457575" cy="3981450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F571B-D673-4D36-8160-DFDA3C3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68956-4951-4BF1-BB25-90FC0C1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84692-CA94-4877-9E73-81B0641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 suites verified on 29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B3ED4-EF00-473B-B122-B08E61A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Coverage includes the agent loop, order lookup, refund checks, duplicate prevention, escalation, and error handling.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E77B6-E070-4F22-991E-3E583ED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239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E91EF-0CCA-425F-9B6C-4EEE620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9391D-13CF-41D3-88A0-505036E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81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63186-221C-40DF-A373-369AD0F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485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13A43-1AE7-4E31-8D0C-8B768AC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1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Verified passing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2B73C-AC3C-48F1-BA74-AC2D93C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8735C-85AF-466D-B7B0-32780D9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BC7A5-399B-4117-BF4E-6ECB423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47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219DF-0CB7-4DDD-8FFA-39F26B2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Integration runner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25DDC-0EBD-4AAE-93F4-F3512553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81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live databases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14689-29BB-4A89-90B0-A195CF0A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575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11EA4-FC56-4753-ABC2-1B8D40BC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95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1FED8-1151-4FC7-A85B-7E984AE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14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809DD-D95E-46AF-BC91-1488D0B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619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Prompt-injection runner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E770D-1AA2-45AB-8BF2-7E0C6262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configured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BC90A-82AF-4659-98B7-6DE43340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1DE85-B77D-41C5-8848-27EDB30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52993-3FB8-4DD0-80D1-36D11DDC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81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DC21F-CCF0-4F7E-8203-1F94580B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RAG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34966-8039-4B5B-845D-7C9B353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30-query recall and precision script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084F58-9F6F-4DAE-9211-22C5661F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81675"/>
            <a:ext cx="690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deck reports only the unit suite as executed and passing.</a:t>
            </a:r>
          </a:p>
        </p:txBody>
      </p:sp>
    </p:spTree>
    <p:extLst>
      <p:ext uri="{BB962C8B-B14F-4D97-AF65-F5344CB8AC3E}">
        <p14:creationId xmlns:p14="http://schemas.microsoft.com/office/powerpoint/2010/main" val="1617592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AC0C8-7248-4E1E-A18C-EBEF948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Limitations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17478-23E5-4EA7-B380-D6FC17B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F7514-B294-4192-BC7C-D94FC7D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A3008-233E-4F8C-A46B-0C501EB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8F1FB-5DEE-45A7-B4A7-D0C045C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9705D-875E-4EAF-877A-322B7CF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CURRENT TRADEOFFS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DEDCD-A3E5-411C-9623-2B67DDA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7B96D-0A7F-4E2D-AF6F-FD9ECED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memory lives in one server process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responses return only after the full tool loop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Reranking uses exact term overlap instead of a learned model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 currently accepts PDF files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limits reset when the server restarts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confirmation still depends on model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77A00-C550-4CB1-935C-39B15D4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Move session memory and rate counters to Redis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Stream partial responses through SSE or WebSockets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cross-encoder reranker and retrieval telemetry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DOCX, TXT, JSON, and CSV ingestion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deterministic approval gate for refunds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Summarize long conversations before the context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7C167-1ABA-400A-8448-0FE262DB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6965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AD9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E8C97-49E0-4D9E-8D30-DB9653B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31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Priority: make state and policy enforcement deterministic before scaling traffic.</a:t>
            </a:r>
          </a:p>
        </p:txBody>
      </p:sp>
    </p:spTree>
    <p:extLst>
      <p:ext uri="{BB962C8B-B14F-4D97-AF65-F5344CB8AC3E}">
        <p14:creationId xmlns:p14="http://schemas.microsoft.com/office/powerpoint/2010/main" val="57179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61F5E-66D3-4CE2-8CD0-DCB6267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3B19A-EEEE-4AF4-B354-C5A6335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BC76B-654E-4F41-A41B-E87DCBA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DF0DF-D2CC-49BB-AC62-CFD4F89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30FB1-C139-490E-A87F-4F629BD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58145-5809-4E23-A295-8B8F885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10267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 working support system that connects grounded answers to real customer-service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5E3AA-6B25-4913-9302-571752E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1AEC4-18A2-4996-B360-0C666903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6D547-E413-4937-A849-CF199CF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6B418-4FDD-4D54-9C9B-28074862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RAG searches store-specific knowledge.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986F5-FB44-46B9-8604-FD27B2F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A01FB-A911-48F4-AA20-385E20F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D1DA9-B3D2-485F-AEEC-708A0EE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541C4-D54E-4521-8A2B-D4B649B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Tools query orders and create refund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520F6-8D82-4004-A5EF-761005E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9B473-51DD-4231-B7BF-D9D6251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AD96C-9E32-4842-8E50-9DDB953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1AA1C-4332-42FA-A5F9-80F6294A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Complex cases carry context into human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B9DEB-C768-40C9-8C48-2CB71DD1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B204A-660A-442A-B0EB-EC3ED603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CAF5E-A6A5-4F45-8608-48ED1411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68371-539A-4C97-B05A-2C6CE68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Tests, analytics, feedback, and audit logs expose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A14C6-46BB-4FFE-B1E0-AF50DAB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81625"/>
            <a:ext cx="10267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761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2026-09-29T07:10:49.4830000Z</dcterms:created>
  <dcterms:modified xsi:type="dcterms:W3CDTF">2026-09-29T07:10:49.4830000Z</dcterms:modified>
</coreProperties>
</file>