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9445752" cy="502920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37160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Chatbot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Agentic Chatbot for E-Commerce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3108960"/>
            <a:ext cx="3044952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3832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 •  LangChain  •  Gemini AI  •  MongoDB Atlas Vector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5720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</a:t>
            </a:r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Roll No]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512064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Swami Keshvanand Institute of Technology, Management &amp; Gramothan, Jaipur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12801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Company Introduction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Certificate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Technology Used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Goal of Training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Project Overview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Working Project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Future Scope</a:t>
            </a:r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 Q &amp; 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828800"/>
            <a:ext cx="7616952" cy="3200400"/>
          </a:xfrm>
          <a:prstGeom prst="rect">
            <a:avLst>
              <a:gd name="adj" fmla="val 2857"/>
            </a:avLst>
          </a:prstGeom>
          <a:solidFill>
            <a:srgbClr val="F5F5F5"/>
          </a:solidFill>
          <a:ln w="19050">
            <a:solidFill>
              <a:srgbClr val="7F8C8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286000" y="182880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company introduction here]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Company name, location, domain,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offered, and your role during training.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7616952" cy="4572000"/>
          </a:xfrm>
          <a:prstGeom prst="rect">
            <a:avLst>
              <a:gd name="adj" fmla="val 2000"/>
            </a:avLst>
          </a:prstGeom>
          <a:solidFill>
            <a:srgbClr val="F5F5F5"/>
          </a:solidFill>
          <a:ln w="19050">
            <a:solidFill>
              <a:srgbClr val="7F8C8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286000" y="1371600"/>
            <a:ext cx="76169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training certificate image here]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3474720" cy="457200"/>
          </a:xfrm>
          <a:prstGeom prst="rect">
            <a:avLst>
              <a:gd name="adj" fmla="val 20000"/>
            </a:avLst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474720" cy="137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Tailwind CSS,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Motion, Vite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280160"/>
            <a:ext cx="3474720" cy="457200"/>
          </a:xfrm>
          <a:prstGeom prst="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600200"/>
            <a:ext cx="347472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(WebSockets)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280160"/>
            <a:ext cx="3474720" cy="457200"/>
          </a:xfrm>
          <a:prstGeom prst="rect">
            <a:avLst>
              <a:gd name="adj" fmla="val 20000"/>
            </a:avLst>
          </a:prstGeom>
          <a:solidFill>
            <a:srgbClr val="8E44AD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600200"/>
            <a:ext cx="347472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RAG Pipeline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49040"/>
            <a:ext cx="3474720" cy="457200"/>
          </a:xfrm>
          <a:prstGeom prst="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069080"/>
            <a:ext cx="347472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(Vector Search),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3749040"/>
            <a:ext cx="3474720" cy="457200"/>
          </a:xfrm>
          <a:prstGeom prst="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4069080"/>
            <a:ext cx="3474720" cy="137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(File Storage),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2C3E5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749040"/>
            <a:ext cx="3474720" cy="457200"/>
          </a:xfrm>
          <a:prstGeom prst="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4069080"/>
            <a:ext cx="3474720" cy="1371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389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Rate Limiting,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Masking, Guardrails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Training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full-stack development with the MERN (MongoDB, Express, React, Node.js) stack by building a production-grade application from scratch.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implement Retrieval-Augmented Generation (RAG) — combining large language models with external knowledge bases for accurate, grounded AI responses.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Agentic AI system using LangChain's AgentExecutor with tool-calling capabilities, enabling the chatbot to autonomously take actions (check orders, process refunds, search knowledge base).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Google Gemini AI — including Gemini 2.0 Flash for reasoning and Gemini Embedding for vector representations.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enterprise-grade security patterns: JWT authentication with refresh tokens, rate limiting, prompt injection guardrails, PII masking, and audit logging.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Hybrid Retrieval pipeline (Vector Search + BM25 keyword search) with Reciprocal Rank Fusion and reranking for superior search accuracy.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complete admin panel with real-time ticket management (via WebSockets), analytics dashboards, and knowledge base management.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Chatbot —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chatbot for e-commerce customer support that can autonomously handle order inquiries, process refunds, search policies, and escalate to human agents — powered by Gemini AI and a RAG knowledge base.
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 with 4 custom tools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RAG: Vector + BM25 + RRF Fusion + Reranking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 with Socket.io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refresh token rotation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with automatic PII masking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pipeline (PDF → chunks → embeddings)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777240"/>
          </a:xfrm>
          <a:prstGeom prst="rect">
            <a:avLst>
              <a:gd name="adj" fmla="val 11765"/>
            </a:avLst>
          </a:prstGeom>
          <a:solidFill>
            <a:srgbClr val="2980B9"/>
          </a:solidFill>
          <a:ln/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371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+ Tailwind)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377440"/>
            <a:ext cx="5029200" cy="777240"/>
          </a:xfrm>
          <a:prstGeom prst="rect">
            <a:avLst>
              <a:gd name="adj" fmla="val 11765"/>
            </a:avLst>
          </a:prstGeom>
          <a:solidFill>
            <a:srgbClr val="27AE60"/>
          </a:solidFill>
          <a:ln/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377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JWT Auth + Rate Limit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383280"/>
            <a:ext cx="5029200" cy="777240"/>
          </a:xfrm>
          <a:prstGeom prst="rect">
            <a:avLst>
              <a:gd name="adj" fmla="val 11765"/>
            </a:avLst>
          </a:prstGeom>
          <a:solidFill>
            <a:srgbClr val="8E44AD"/>
          </a:solidFill>
          <a:ln/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3832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2.0 Flash)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4114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4389120"/>
            <a:ext cx="5029200" cy="777240"/>
          </a:xfrm>
          <a:prstGeom prst="rect">
            <a:avLst>
              <a:gd name="adj" fmla="val 11765"/>
            </a:avLst>
          </a:prstGeom>
          <a:solidFill>
            <a:srgbClr val="E67E22"/>
          </a:solidFill>
          <a:ln/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4389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(Hybrid + RRF + Rerank)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5120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5394960"/>
            <a:ext cx="5029200" cy="777240"/>
          </a:xfrm>
          <a:prstGeom prst="rect">
            <a:avLst>
              <a:gd name="adj" fmla="val 11765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5394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   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Project — Agent Tools &amp;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Chatbot Processes a Request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645920" cy="822960"/>
          </a:xfrm>
          <a:prstGeom prst="rect">
            <a:avLst>
              <a:gd name="adj" fmla="val 11111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1645920" cy="822960"/>
          </a:xfrm>
          <a:prstGeom prst="rect">
            <a:avLst>
              <a:gd name="adj" fmla="val 11111"/>
            </a:avLst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 Check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1645920" cy="822960"/>
          </a:xfrm>
          <a:prstGeom prst="rect">
            <a:avLst>
              <a:gd name="adj" fmla="val 11111"/>
            </a:avLst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1645920" cy="822960"/>
          </a:xfrm>
          <a:prstGeom prst="rect">
            <a:avLst>
              <a:gd name="adj" fmla="val 11111"/>
            </a:avLst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381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03920" y="1828800"/>
            <a:ext cx="1645920" cy="822960"/>
          </a:xfrm>
          <a:prstGeom prst="rect">
            <a:avLst>
              <a:gd name="adj" fmla="val 11111"/>
            </a:avLst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498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515600" y="1828800"/>
            <a:ext cx="1645920" cy="822960"/>
          </a:xfrm>
          <a:prstGeom prst="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28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731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17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Tools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269748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66160"/>
            <a:ext cx="2697480" cy="502920"/>
          </a:xfrm>
          <a:prstGeom prst="rect">
            <a:avLst>
              <a:gd name="adj" fmla="val 18182"/>
            </a:avLst>
          </a:prstGeom>
          <a:solidFill>
            <a:srgbClr val="2980B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931920"/>
            <a:ext cx="2697480" cy="137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check_order_status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206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PostgreSQL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details, items,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timestamps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566160"/>
            <a:ext cx="269748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566160"/>
            <a:ext cx="2697480" cy="502920"/>
          </a:xfrm>
          <a:prstGeom prst="rect">
            <a:avLst>
              <a:gd name="adj" fmla="val 18182"/>
            </a:avLst>
          </a:prstGeom>
          <a:solidFill>
            <a:srgbClr val="27AE60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931920"/>
            <a:ext cx="269748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initiate_refund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206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confirmation: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eligibility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 after user OK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566160"/>
            <a:ext cx="269748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566160"/>
            <a:ext cx="2697480" cy="502920"/>
          </a:xfrm>
          <a:prstGeom prst="rect">
            <a:avLst>
              <a:gd name="adj" fmla="val 18182"/>
            </a:avLst>
          </a:prstGeom>
          <a:solidFill>
            <a:srgbClr val="8E44AD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3931920"/>
            <a:ext cx="269748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search_knowledge_base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4206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search: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BM25 + RRF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Term-Overlap Reranking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566160"/>
            <a:ext cx="269748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98280" y="3566160"/>
            <a:ext cx="2697480" cy="502920"/>
          </a:xfrm>
          <a:prstGeom prst="rect">
            <a:avLst>
              <a:gd name="adj" fmla="val 18182"/>
            </a:avLst>
          </a:prstGeom>
          <a:solidFill>
            <a:srgbClr val="E67E22"/>
          </a:solidFill>
          <a:ln/>
        </p:spPr>
      </p:sp>
      <p:sp>
        <p:nvSpPr>
          <p:cNvPr id="42" name="Shape 40"/>
          <p:cNvSpPr/>
          <p:nvPr/>
        </p:nvSpPr>
        <p:spPr>
          <a:xfrm>
            <a:off x="9098280" y="3931920"/>
            <a:ext cx="269748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9098280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escalate_to_human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35440" y="42062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support ticket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conversation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Socket.io alert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40080"/>
          </a:xfrm>
          <a:prstGeom prst="rect">
            <a:avLst>
              <a:gd name="adj" fmla="val 7143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Server-Sent Events (SSE) for real-time token-by-token streaming, reducing perceived latency from 5-10 seconds to near-instant.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3258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6459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lightweight term-overlap reranker with a learned cross-encoder model (e.g., sentence-transformers) for significantly improved relevance ranking.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2918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document pipeline beyond PDF to support .txt, .docx, .csv, and structured JSON — enabling richer knowledge bases.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971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2918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in-memory BufferMemory to Redis or MongoDB-backed memory, enabling horizontal scaling and conversation persistence across restarts.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937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separate input classification layer for prompt injection detection instead of relying solely on system prompt instructions.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480560"/>
            <a:ext cx="53949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4937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internationalization (i18n) to serve customers across different languages and regions.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www.skit.ac.in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1371600"/>
            <a:ext cx="7616952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182880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029200" y="3200400"/>
            <a:ext cx="2130552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47472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420624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any questions about the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Support Chatbot — Training Report</dc:title>
  <dc:subject>PptxGenJS Presentation</dc:subject>
  <dc:creator>SKIT Jaipur</dc:creator>
  <cp:lastModifiedBy>SKIT Jaipur</cp:lastModifiedBy>
  <cp:revision>1</cp:revision>
  <dcterms:created xsi:type="dcterms:W3CDTF">2026-07-15T17:29:54Z</dcterms:created>
  <dcterms:modified xsi:type="dcterms:W3CDTF">2026-07-15T17:29:54Z</dcterms:modified>
</cp:coreProperties>
</file>